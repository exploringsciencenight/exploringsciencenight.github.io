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autoAdjust="0" sz="16158"/>
    <p:restoredTop autoAdjust="0" sz="94630"/>
  </p:normalViewPr>
  <p:slideViewPr>
    <p:cSldViewPr snapToGrid="0">
      <p:cViewPr varScale="1">
        <p:scale>
          <a:sx d="100" n="83"/>
          <a:sy d="100" n="83"/>
        </p:scale>
        <p:origin x="-605" y="-77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8028800" cy="78028800"/>
</p:viewPr>
</file>

<file path=ppt/_rels/presentation.xml.rels><?xml version="1.0" encoding="UTF-8" standalone="yes"?><Relationships xmlns="http://schemas.openxmlformats.org/package/2006/relationships"><Relationship Id="rId63" Target="slides/slide58.xml" Type="http://schemas.openxmlformats.org/officeDocument/2006/relationships/slide"/><Relationship Id="rId62" Target="slides/slide57.xml" Type="http://schemas.openxmlformats.org/officeDocument/2006/relationships/slide"/><Relationship Id="rId61" Target="slides/slide56.xml" Type="http://schemas.openxmlformats.org/officeDocument/2006/relationships/slide"/><Relationship Id="rId60" Target="slides/slide55.xml" Type="http://schemas.openxmlformats.org/officeDocument/2006/relationships/slide"/><Relationship Id="rId53" Target="slides/slide48.xml" Type="http://schemas.openxmlformats.org/officeDocument/2006/relationships/slide"/><Relationship Id="rId52" Target="slides/slide47.xml" Type="http://schemas.openxmlformats.org/officeDocument/2006/relationships/slide"/><Relationship Id="rId51" Target="slides/slide46.xml" Type="http://schemas.openxmlformats.org/officeDocument/2006/relationships/slide"/><Relationship Id="rId50" Target="slides/slide45.xml" Type="http://schemas.openxmlformats.org/officeDocument/2006/relationships/slide"/><Relationship Id="rId5" Target="slideMasters/slideMaster1.xml" Type="http://schemas.openxmlformats.org/officeDocument/2006/relationships/slideMaster"/><Relationship Id="rId39" Target="slides/slide34.xml" Type="http://schemas.openxmlformats.org/officeDocument/2006/relationships/slide"/><Relationship Id="rId4" Target="tableStyles.xml" Type="http://schemas.openxmlformats.org/officeDocument/2006/relationships/tableStyles"/><Relationship Id="rId38" Target="slides/slide33.xml" Type="http://schemas.openxmlformats.org/officeDocument/2006/relationships/slide"/><Relationship Id="rId3" Target="presProps.xml" Type="http://schemas.openxmlformats.org/officeDocument/2006/relationships/presProps"/><Relationship Id="rId37" Target="slides/slide32.xml" Type="http://schemas.openxmlformats.org/officeDocument/2006/relationships/slide"/><Relationship Id="rId2" Target="viewProps.xml" Type="http://schemas.openxmlformats.org/officeDocument/2006/relationships/viewProps"/><Relationship Id="rId36" Target="slides/slide31.xml" Type="http://schemas.openxmlformats.org/officeDocument/2006/relationships/slide"/><Relationship Id="rId1" Target="theme/theme1.xml" Type="http://schemas.openxmlformats.org/officeDocument/2006/relationships/theme"/><Relationship Id="rId35" Target="slides/slide30.xml" Type="http://schemas.openxmlformats.org/officeDocument/2006/relationships/slide"/><Relationship Id="rId34" Target="slides/slide29.xml" Type="http://schemas.openxmlformats.org/officeDocument/2006/relationships/slide"/><Relationship Id="rId33" Target="slides/slide28.xml" Type="http://schemas.openxmlformats.org/officeDocument/2006/relationships/slide"/><Relationship Id="rId66" Target="slides/slide61.xml" Type="http://schemas.openxmlformats.org/officeDocument/2006/relationships/slide"/><Relationship Id="rId32" Target="slides/slide27.xml" Type="http://schemas.openxmlformats.org/officeDocument/2006/relationships/slide"/><Relationship Id="rId65" Target="slides/slide60.xml" Type="http://schemas.openxmlformats.org/officeDocument/2006/relationships/slide"/><Relationship Id="rId31" Target="slides/slide26.xml" Type="http://schemas.openxmlformats.org/officeDocument/2006/relationships/slide"/><Relationship Id="rId64" Target="slides/slide59.xml" Type="http://schemas.openxmlformats.org/officeDocument/2006/relationships/slide"/><Relationship Id="rId30" Target="slides/slide25.xml" Type="http://schemas.openxmlformats.org/officeDocument/2006/relationships/slide"/><Relationship Id="rId27" Target="slides/slide22.xml" Type="http://schemas.openxmlformats.org/officeDocument/2006/relationships/slide"/><Relationship Id="rId26" Target="slides/slide21.xml" Type="http://schemas.openxmlformats.org/officeDocument/2006/relationships/slide"/><Relationship Id="rId59" Target="slides/slide54.xml" Type="http://schemas.openxmlformats.org/officeDocument/2006/relationships/slide"/><Relationship Id="rId25" Target="slides/slide20.xml" Type="http://schemas.openxmlformats.org/officeDocument/2006/relationships/slide"/><Relationship Id="rId58" Target="slides/slide53.xml" Type="http://schemas.openxmlformats.org/officeDocument/2006/relationships/slide"/><Relationship Id="rId24" Target="slides/slide19.xml" Type="http://schemas.openxmlformats.org/officeDocument/2006/relationships/slide"/><Relationship Id="rId55" Target="slides/slide50.xml" Type="http://schemas.openxmlformats.org/officeDocument/2006/relationships/slide"/><Relationship Id="rId21" Target="slides/slide16.xml" Type="http://schemas.openxmlformats.org/officeDocument/2006/relationships/slide"/><Relationship Id="rId19" Target="slides/slide14.xml" Type="http://schemas.openxmlformats.org/officeDocument/2006/relationships/slide"/><Relationship Id="rId54" Target="slides/slide49.xml" Type="http://schemas.openxmlformats.org/officeDocument/2006/relationships/slide"/><Relationship Id="rId20" Target="slides/slide15.xml" Type="http://schemas.openxmlformats.org/officeDocument/2006/relationships/slide"/><Relationship Id="rId18" Target="slides/slide13.xml" Type="http://schemas.openxmlformats.org/officeDocument/2006/relationships/slide"/><Relationship Id="rId17" Target="slides/slide12.xml" Type="http://schemas.openxmlformats.org/officeDocument/2006/relationships/slide"/><Relationship Id="rId13" Target="slides/slide8.xml" Type="http://schemas.openxmlformats.org/officeDocument/2006/relationships/slide"/><Relationship Id="rId47" Target="slides/slide42.xml" Type="http://schemas.openxmlformats.org/officeDocument/2006/relationships/slide"/><Relationship Id="rId16" Target="slides/slide11.xml" Type="http://schemas.openxmlformats.org/officeDocument/2006/relationships/slide"/><Relationship Id="rId12" Target="slides/slide7.xml" Type="http://schemas.openxmlformats.org/officeDocument/2006/relationships/slide"/><Relationship Id="rId46" Target="slides/slide41.xml" Type="http://schemas.openxmlformats.org/officeDocument/2006/relationships/slide"/><Relationship Id="rId49" Target="slides/slide44.xml" Type="http://schemas.openxmlformats.org/officeDocument/2006/relationships/slide"/><Relationship Id="rId15" Target="slides/slide10.xml" Type="http://schemas.openxmlformats.org/officeDocument/2006/relationships/slide"/><Relationship Id="rId11" Target="slides/slide6.xml" Type="http://schemas.openxmlformats.org/officeDocument/2006/relationships/slide"/><Relationship Id="rId45" Target="slides/slide40.xml" Type="http://schemas.openxmlformats.org/officeDocument/2006/relationships/slide"/><Relationship Id="rId48" Target="slides/slide43.xml" Type="http://schemas.openxmlformats.org/officeDocument/2006/relationships/slide"/><Relationship Id="rId14" Target="slides/slide9.xml" Type="http://schemas.openxmlformats.org/officeDocument/2006/relationships/slide"/><Relationship Id="rId10" Target="slides/slide5.xml" Type="http://schemas.openxmlformats.org/officeDocument/2006/relationships/slide"/><Relationship Id="rId44" Target="slides/slide39.xml" Type="http://schemas.openxmlformats.org/officeDocument/2006/relationships/slide"/><Relationship Id="rId43" Target="slides/slide38.xml" Type="http://schemas.openxmlformats.org/officeDocument/2006/relationships/slide"/><Relationship Id="rId42" Target="slides/slide37.xml" Type="http://schemas.openxmlformats.org/officeDocument/2006/relationships/slide"/><Relationship Id="rId41" Target="slides/slide36.xml" Type="http://schemas.openxmlformats.org/officeDocument/2006/relationships/slide"/><Relationship Id="rId9" Target="slides/slide4.xml" Type="http://schemas.openxmlformats.org/officeDocument/2006/relationships/slide"/><Relationship Id="rId40" Target="slides/slide35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7" Target="slides/slide52.xml" Type="http://schemas.openxmlformats.org/officeDocument/2006/relationships/slide"/><Relationship Id="rId23" Target="slides/slide18.xml" Type="http://schemas.openxmlformats.org/officeDocument/2006/relationships/slide"/><Relationship Id="rId29" Target="slides/slide24.xml" Type="http://schemas.openxmlformats.org/officeDocument/2006/relationships/slide"/><Relationship Id="rId56" Target="slides/slide51.xml" Type="http://schemas.openxmlformats.org/officeDocument/2006/relationships/slide"/><Relationship Id="rId22" Target="slides/slide17.xml" Type="http://schemas.openxmlformats.org/officeDocument/2006/relationships/slide"/><Relationship Id="rId28" Target="slides/slide23.xml" Type="http://schemas.openxmlformats.org/officeDocument/2006/relationships/slid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 numCol="1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592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2620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 numCol="1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378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6496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5127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031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865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165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195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3580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82465468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FD2AB-3BE2-457F-BC51-2EB3031A49AA}" type="datetimeFigureOut">
              <a:rPr lang="en-US" smtClean="0"/>
              <a:pPr/>
              <a:t>12/6/2017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A0737-AFF4-4330-8F5C-294F734DA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490371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7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8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9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0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5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<Relationships xmlns="http://schemas.openxmlformats.org/package/2006/relationships"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<Relationships xmlns="http://schemas.openxmlformats.org/package/2006/relationships"><Relationship Id="rId4" Target="../media/image1.png" Type="http://schemas.openxmlformats.org/officeDocument/2006/relationships/image"/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0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1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2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4.xml.rels><?xml version="1.0" encoding="UTF-8" standalone="yes"?><Relationships xmlns="http://schemas.openxmlformats.org/package/2006/relationships"><Relationship Id="rId3" Target="../media/image5.png" Type="http://schemas.openxmlformats.org/officeDocument/2006/relationships/image"/><Relationship Id="rId2" Target="../media/image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5.xml.rels><?xml version="1.0" encoding="UTF-8" standalone="yes"?><Relationships xmlns="http://schemas.openxmlformats.org/package/2006/relationships"><Relationship Id="rId2" Target="../media/image6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6.xml.rels><?xml version="1.0" encoding="UTF-8" standalone="yes"?><Relationships xmlns="http://schemas.openxmlformats.org/package/2006/relationships"><Relationship Id="rId3" Target="../media/image8.png" Type="http://schemas.openxmlformats.org/officeDocument/2006/relationships/image"/><Relationship Id="rId2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7.xml.rels><?xml version="1.0" encoding="UTF-8" standalone="yes"?><Relationships xmlns="http://schemas.openxmlformats.org/package/2006/relationships"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8.xml.rels><?xml version="1.0" encoding="UTF-8" standalone="yes"?><Relationships xmlns="http://schemas.openxmlformats.org/package/2006/relationships"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9.xml.rels><?xml version="1.0" encoding="UTF-8" standalone="yes"?><Relationships xmlns="http://schemas.openxmlformats.org/package/2006/relationships"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0.xml.rels><?xml version="1.0" encoding="UTF-8" standalone="yes"?><Relationships xmlns="http://schemas.openxmlformats.org/package/2006/relationships"><Relationship Id="rId2" Target="../media/image1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1.xml.rels><?xml version="1.0" encoding="UTF-8" standalone="yes"?><Relationships xmlns="http://schemas.openxmlformats.org/package/2006/relationships"><Relationship Id="rId2" Target="../media/image1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2.xml.rels><?xml version="1.0" encoding="UTF-8" standalone="yes"?><Relationships xmlns="http://schemas.openxmlformats.org/package/2006/relationships"><Relationship Id="rId2" Target="../media/image1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4.xml.rels><?xml version="1.0" encoding="UTF-8" standalone="yes"?><Relationships xmlns="http://schemas.openxmlformats.org/package/2006/relationships"><Relationship Id="rId2" Target="../media/image13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5.xml.rels><?xml version="1.0" encoding="UTF-8" standalone="yes"?><Relationships xmlns="http://schemas.openxmlformats.org/package/2006/relationships"><Relationship Id="rId2" Target="../media/image1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6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7.xml.rels><?xml version="1.0" encoding="UTF-8" standalone="yes"?><Relationships xmlns="http://schemas.openxmlformats.org/package/2006/relationships"><Relationship Id="rId2" Target="../media/image1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8.xml.rels><?xml version="1.0" encoding="UTF-8" standalone="yes"?><Relationships xmlns="http://schemas.openxmlformats.org/package/2006/relationships"><Relationship Id="rId2" Target="../media/image1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9.xml.rels><?xml version="1.0" encoding="UTF-8" standalone="yes"?><Relationships xmlns="http://schemas.openxmlformats.org/package/2006/relationships"><Relationship Id="rId2" Target="../media/image1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0.xml.rels><?xml version="1.0" encoding="UTF-8" standalone="yes"?><Relationships xmlns="http://schemas.openxmlformats.org/package/2006/relationships"><Relationship Id="rId2" Target="../media/image16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1.xml.rels><?xml version="1.0" encoding="UTF-8" standalone="yes"?><Relationships xmlns="http://schemas.openxmlformats.org/package/2006/relationships"><Relationship Id="rId2" Target="../media/image1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2.xml.rels><?xml version="1.0" encoding="UTF-8" standalone="yes"?><Relationships xmlns="http://schemas.openxmlformats.org/package/2006/relationships"><Relationship Id="rId3" Target="../media/image19.png" Type="http://schemas.openxmlformats.org/officeDocument/2006/relationships/image"/><Relationship Id="rId2" Target="../media/image1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3.xml.rels><?xml version="1.0" encoding="UTF-8" standalone="yes"?><Relationships xmlns="http://schemas.openxmlformats.org/package/2006/relationships"><Relationship Id="rId2" Target="../media/image2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4.xml.rels><?xml version="1.0" encoding="UTF-8" standalone="yes"?><Relationships xmlns="http://schemas.openxmlformats.org/package/2006/relationships"><Relationship Id="rId2" Target="../media/image2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5.xml.rels><?xml version="1.0" encoding="UTF-8" standalone="yes"?><Relationships xmlns="http://schemas.openxmlformats.org/package/2006/relationships"><Relationship Id="rId2" Target="../media/image2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6.xml.rels><?xml version="1.0" encoding="UTF-8" standalone="yes"?><Relationships xmlns="http://schemas.openxmlformats.org/package/2006/relationships"><Relationship Id="rId2" Target="../media/image2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7.xml.rels><?xml version="1.0" encoding="UTF-8" standalone="yes"?><Relationships xmlns="http://schemas.openxmlformats.org/package/2006/relationships"><Relationship Id="rId2" Target="../media/image2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8.xml.rels><?xml version="1.0" encoding="UTF-8" standalone="yes"?><Relationships xmlns="http://schemas.openxmlformats.org/package/2006/relationships"><Relationship Id="rId2" Target="../media/image23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9.xml.rels><?xml version="1.0" encoding="UTF-8" standalone="yes"?><Relationships xmlns="http://schemas.openxmlformats.org/package/2006/relationships"><Relationship Id="rId2" Target="../media/image2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0.xml.rels><?xml version="1.0" encoding="UTF-8" standalone="yes"?><Relationships xmlns="http://schemas.openxmlformats.org/package/2006/relationships"><Relationship Id="rId2" Target="../media/image2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1.xml.rels><?xml version="1.0" encoding="UTF-8" standalone="yes"?><Relationships xmlns="http://schemas.openxmlformats.org/package/2006/relationships"><Relationship Id="rId2" Target="../media/image2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87" y="137161"/>
            <a:ext cx="11166513" cy="6594146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  <a:t>Exploring Science Night</a:t>
            </a:r>
            <a:endParaRPr b="1" dirty="0" lang="en-US" sz="166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330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87" y="365125"/>
            <a:ext cx="11166513" cy="6366181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  <a:t>Question </a:t>
            </a:r>
            <a:b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</a:br>
            <a: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  <a:t>&amp; Answer Slides</a:t>
            </a:r>
            <a:endParaRPr b="1" dirty="0" lang="en-US" sz="166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330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226" y="1"/>
            <a:ext cx="12143509" cy="1463040"/>
          </a:xfrm>
        </p:spPr>
        <p:txBody>
          <a:bodyPr numCol="1">
            <a:noAutofit/>
          </a:bodyPr>
          <a:lstStyle/>
          <a:p>
            <a:r>
              <a:rPr b="1" dirty="0" lang="en-US" smtClean="0" sz="8800" u="sng">
                <a:latin charset="-79" panose="02010803020104030203" pitchFamily="2" typeface="Aharoni"/>
                <a:cs charset="-79" panose="02010803020104030203" pitchFamily="2" typeface="Aharoni"/>
              </a:rPr>
              <a:t>Which Flies Further</a:t>
            </a:r>
            <a:r>
              <a:rPr b="1" dirty="0" lang="en-US" smtClean="0" sz="98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1923980"/>
            <a:ext cx="12192000" cy="4934019"/>
          </a:xfrm>
        </p:spPr>
        <p:txBody>
          <a:bodyPr numCol="1">
            <a:noAutofit/>
          </a:bodyPr>
          <a:lstStyle/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7200"/>
              <a:t>With or Without Tape?</a:t>
            </a:r>
          </a:p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8000"/>
              <a:t>Standard Paper or Construction Paper?</a:t>
            </a:r>
          </a:p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8000"/>
              <a:t>Loosely or tightly folded?</a:t>
            </a:r>
            <a:endParaRPr b="1" dirty="0" lang="en-US" sz="8000"/>
          </a:p>
        </p:txBody>
      </p:sp>
    </p:spTree>
    <p:extLst>
      <p:ext uri="{BB962C8B-B14F-4D97-AF65-F5344CB8AC3E}">
        <p14:creationId xmlns="" xmlns:p14="http://schemas.microsoft.com/office/powerpoint/2010/main" val="71944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541180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8800">
                <a:latin charset="-79" panose="02010803020104030203" pitchFamily="2" typeface="Aharoni"/>
                <a:cs charset="-79" panose="02010803020104030203" pitchFamily="2" typeface="Aharoni"/>
              </a:rPr>
              <a:t>Why Does the Laser Follow the Water?</a:t>
            </a:r>
            <a:endParaRPr b="1" dirty="0"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98648"/>
            <a:ext cx="12192000" cy="3666744"/>
          </a:xfrm>
        </p:spPr>
        <p:txBody>
          <a:bodyPr numCol="1">
            <a:normAutofit fontScale="70000" lnSpcReduction="20000"/>
          </a:bodyPr>
          <a:lstStyle/>
          <a:p>
            <a:pPr indent="0" lvl="1" marL="457200"/>
            <a:r>
              <a:rPr b="1" dirty="0" lang="en-US" smtClean="0" sz="5000"/>
              <a:t>The laser is “trapped” inside the water because</a:t>
            </a:r>
            <a:br>
              <a:rPr b="1" dirty="0" lang="en-US" smtClean="0" sz="5000"/>
            </a:br>
            <a:r>
              <a:rPr b="1" dirty="0" lang="en-US" smtClean="0" sz="5000"/>
              <a:t>	of Total Internal Reflection.</a:t>
            </a:r>
          </a:p>
          <a:p>
            <a:pPr indent="0" lvl="1" marL="457200"/>
            <a:endParaRPr b="1" dirty="0" lang="en-US" smtClean="0" sz="5000"/>
          </a:p>
          <a:p>
            <a:pPr indent="0" lvl="1" marL="457200"/>
            <a:r>
              <a:rPr b="1" dirty="0" lang="en-US" smtClean="0" sz="5000"/>
              <a:t>As the light tries to pass from the more-dense water to</a:t>
            </a:r>
            <a:br>
              <a:rPr b="1" dirty="0" lang="en-US" smtClean="0" sz="5000"/>
            </a:br>
            <a:r>
              <a:rPr b="1" dirty="0" lang="en-US" smtClean="0" sz="5000"/>
              <a:t>	the less-dense air, it bends. (This is called refraction.)</a:t>
            </a:r>
          </a:p>
          <a:p>
            <a:pPr indent="0" lvl="1" marL="457200"/>
            <a:endParaRPr b="1" dirty="0" lang="en-US" smtClean="0" sz="5000"/>
          </a:p>
          <a:p>
            <a:pPr indent="0" lvl="1" marL="457200"/>
            <a:r>
              <a:rPr b="1" dirty="0" lang="en-US" smtClean="0" sz="5000"/>
              <a:t>At a certain point, the light bends so much</a:t>
            </a:r>
            <a:br>
              <a:rPr b="1" dirty="0" lang="en-US" smtClean="0" sz="5000"/>
            </a:br>
            <a:r>
              <a:rPr b="1" dirty="0" lang="en-US" smtClean="0" sz="5000"/>
              <a:t>	that it bounces off the surface of the water.</a:t>
            </a:r>
            <a:endParaRPr b="1" dirty="0" lang="en-US" sz="3200"/>
          </a:p>
        </p:txBody>
      </p:sp>
    </p:spTree>
    <p:extLst>
      <p:ext uri="{BB962C8B-B14F-4D97-AF65-F5344CB8AC3E}">
        <p14:creationId xmlns="" xmlns:p14="http://schemas.microsoft.com/office/powerpoint/2010/main" val="247725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541180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8800" u="sng">
                <a:latin charset="-79" panose="02010803020104030203" pitchFamily="2" typeface="Aharoni"/>
                <a:cs charset="-79" panose="02010803020104030203" pitchFamily="2" typeface="Aharoni"/>
              </a:rPr>
              <a:t>Does the Water Temperature Matter?</a:t>
            </a:r>
            <a:endParaRPr b="1" dirty="0"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795823"/>
            <a:ext cx="12192000" cy="2381140"/>
          </a:xfrm>
        </p:spPr>
        <p:txBody>
          <a:bodyPr numCol="1">
            <a:noAutofit/>
          </a:bodyPr>
          <a:lstStyle/>
          <a:p>
            <a:pPr algn="ctr" indent="0" marL="0">
              <a:buNone/>
            </a:pPr>
            <a:r>
              <a:rPr b="1" dirty="0" lang="en-US" smtClean="0" sz="6600"/>
              <a:t>No. Cold, room-temperature</a:t>
            </a:r>
          </a:p>
          <a:p>
            <a:pPr algn="ctr" indent="0" marL="0">
              <a:buNone/>
            </a:pPr>
            <a:r>
              <a:rPr b="1" dirty="0" lang="en-US" smtClean="0" sz="6600"/>
              <a:t>and hot water all work the same.</a:t>
            </a:r>
            <a:endParaRPr b="1"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4113400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541180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8800" u="sng">
                <a:latin charset="-79" panose="02010803020104030203" pitchFamily="2" typeface="Aharoni"/>
                <a:cs charset="-79" panose="02010803020104030203" pitchFamily="2" typeface="Aharoni"/>
              </a:rPr>
              <a:t>Does the Type of Liquid Matter?</a:t>
            </a:r>
            <a:endParaRPr b="1" dirty="0"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76333"/>
            <a:ext cx="12192000" cy="2660061"/>
          </a:xfrm>
        </p:spPr>
        <p:txBody>
          <a:bodyPr numCol="1">
            <a:noAutofit/>
          </a:bodyPr>
          <a:lstStyle/>
          <a:p>
            <a:pPr algn="ctr" indent="0" marL="0">
              <a:buNone/>
            </a:pPr>
            <a:r>
              <a:rPr b="1" dirty="0" lang="en-US" smtClean="0" sz="6000"/>
              <a:t>Yes. Some liquids are too dark or opaque and block the laser,</a:t>
            </a:r>
          </a:p>
          <a:p>
            <a:pPr algn="ctr" indent="0" marL="0">
              <a:buNone/>
            </a:pPr>
            <a:r>
              <a:rPr b="1" dirty="0" lang="en-US" smtClean="0" sz="6000"/>
              <a:t>such as Milk</a:t>
            </a:r>
            <a:r>
              <a:rPr b="1" dirty="0" lang="en-US" sz="6000"/>
              <a:t> </a:t>
            </a:r>
            <a:r>
              <a:rPr b="1" dirty="0" lang="en-US" smtClean="0" sz="6000"/>
              <a:t>&amp; Cola.</a:t>
            </a:r>
            <a:endParaRPr b="1" dirty="0" lang="en-US" sz="6000"/>
          </a:p>
        </p:txBody>
      </p:sp>
    </p:spTree>
    <p:extLst>
      <p:ext uri="{BB962C8B-B14F-4D97-AF65-F5344CB8AC3E}">
        <p14:creationId xmlns="" xmlns:p14="http://schemas.microsoft.com/office/powerpoint/2010/main" val="252106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800" u="sng">
                <a:latin charset="-79" panose="02010803020104030203" pitchFamily="2" typeface="Aharoni"/>
                <a:cs charset="-79" panose="02010803020104030203" pitchFamily="2" typeface="Aharoni"/>
              </a:rPr>
              <a:t>Which Flies Further</a:t>
            </a:r>
            <a:r>
              <a:rPr b="1" dirty="0" lang="en-US" smtClean="0" sz="98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8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335482"/>
          </a:xfrm>
        </p:spPr>
        <p:txBody>
          <a:bodyPr numCol="1">
            <a:noAutofit/>
          </a:bodyPr>
          <a:lstStyle/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9600"/>
              <a:t>Catapult</a:t>
            </a:r>
          </a:p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9600"/>
              <a:t>Trebuchet</a:t>
            </a:r>
            <a:endParaRPr b="1" dirty="0" lang="en-US" sz="9600"/>
          </a:p>
        </p:txBody>
      </p:sp>
    </p:spTree>
    <p:extLst>
      <p:ext uri="{BB962C8B-B14F-4D97-AF65-F5344CB8AC3E}">
        <p14:creationId xmlns="" xmlns:p14="http://schemas.microsoft.com/office/powerpoint/2010/main" val="336067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Which Is Easier to Aim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335482"/>
          </a:xfrm>
        </p:spPr>
        <p:txBody>
          <a:bodyPr numCol="1">
            <a:noAutofit/>
          </a:bodyPr>
          <a:lstStyle/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9600"/>
              <a:t>Catapult</a:t>
            </a:r>
          </a:p>
          <a:p>
            <a:pPr algn="l" indent="-1143000" marL="1143000">
              <a:buFont charset="0" panose="020B0604020202020204" pitchFamily="34" typeface="Arial"/>
              <a:buChar char="•"/>
            </a:pPr>
            <a:r>
              <a:rPr b="1" dirty="0" lang="en-US" smtClean="0" sz="9600"/>
              <a:t>Trebuche</a:t>
            </a:r>
            <a:r>
              <a:rPr b="1" dirty="0" lang="en-US" smtClean="0" sz="11500"/>
              <a:t>t</a:t>
            </a:r>
            <a:endParaRPr b="1" dirty="0" lang="en-US" sz="11500"/>
          </a:p>
        </p:txBody>
      </p:sp>
    </p:spTree>
    <p:extLst>
      <p:ext uri="{BB962C8B-B14F-4D97-AF65-F5344CB8AC3E}">
        <p14:creationId xmlns="" xmlns:p14="http://schemas.microsoft.com/office/powerpoint/2010/main" val="2137727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How Do You Increase Distance for a Catapult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657600"/>
          </a:xfrm>
        </p:spPr>
        <p:txBody>
          <a:bodyPr numCol="1">
            <a:noAutofit/>
          </a:bodyPr>
          <a:lstStyle/>
          <a:p>
            <a:endParaRPr b="1" dirty="0" lang="en-US" smtClean="0" sz="8000"/>
          </a:p>
          <a:p>
            <a:r>
              <a:rPr b="1" dirty="0" lang="en-US" smtClean="0" sz="8000"/>
              <a:t>A stronger rubber band</a:t>
            </a:r>
          </a:p>
          <a:p>
            <a:r>
              <a:rPr b="1" dirty="0" lang="en-US" smtClean="0" sz="8000"/>
              <a:t>(or spring)</a:t>
            </a:r>
            <a:endParaRPr b="1" dirty="0" lang="en-US" sz="8000"/>
          </a:p>
        </p:txBody>
      </p:sp>
    </p:spTree>
    <p:extLst>
      <p:ext uri="{BB962C8B-B14F-4D97-AF65-F5344CB8AC3E}">
        <p14:creationId xmlns="" xmlns:p14="http://schemas.microsoft.com/office/powerpoint/2010/main" val="111176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39493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How Do You Increase Distance </a:t>
            </a:r>
            <a:r>
              <a:rPr b="1" dirty="0" lang="en-US" smtClean="0" sz="7200" u="sng">
                <a:latin charset="-79" panose="02010803020104030203" pitchFamily="2" typeface="Aharoni"/>
                <a:cs charset="-79" panose="02010803020104030203" pitchFamily="2" typeface="Aharoni"/>
              </a:rPr>
              <a:t>for a</a:t>
            </a:r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 Trebuchet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657600"/>
          </a:xfrm>
        </p:spPr>
        <p:txBody>
          <a:bodyPr numCol="1">
            <a:noAutofit/>
          </a:bodyPr>
          <a:lstStyle/>
          <a:p>
            <a:endParaRPr b="1" dirty="0" lang="en-US" smtClean="0" sz="8000"/>
          </a:p>
          <a:p>
            <a:r>
              <a:rPr b="1" dirty="0" lang="en-US" smtClean="0" sz="8000"/>
              <a:t>A heavier counter-weight (more coins)</a:t>
            </a:r>
          </a:p>
        </p:txBody>
      </p:sp>
    </p:spTree>
    <p:extLst>
      <p:ext uri="{BB962C8B-B14F-4D97-AF65-F5344CB8AC3E}">
        <p14:creationId xmlns="" xmlns:p14="http://schemas.microsoft.com/office/powerpoint/2010/main" val="3030741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4593"/>
            <a:ext cx="12143509" cy="1197863"/>
          </a:xfrm>
        </p:spPr>
        <p:txBody>
          <a:bodyPr numCol="1">
            <a:noAutofit/>
          </a:bodyPr>
          <a:lstStyle/>
          <a:p>
            <a:r>
              <a:rPr b="1" dirty="0" lang="en-US" smtClean="0" sz="7200" u="sng">
                <a:latin charset="-79" panose="02010803020104030203" pitchFamily="2" typeface="Aharoni"/>
                <a:cs charset="-79" panose="02010803020104030203" pitchFamily="2" typeface="Aharoni"/>
              </a:rPr>
              <a:t>Trebuchet Release Pegs</a:t>
            </a:r>
            <a:r>
              <a:rPr b="1" dirty="0" lang="en-US" smtClean="0" sz="8800">
                <a:latin charset="-79" panose="02010803020104030203" pitchFamily="2" typeface="Aharoni"/>
                <a:cs charset="-79" panose="02010803020104030203" pitchFamily="2" typeface="Aharoni"/>
              </a:rPr>
              <a:t>: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1636776"/>
            <a:ext cx="12192000" cy="4892039"/>
          </a:xfrm>
        </p:spPr>
        <p:txBody>
          <a:bodyPr numCol="1">
            <a:noAutofit/>
          </a:bodyPr>
          <a:lstStyle/>
          <a:p>
            <a:pPr algn="l" indent="-1143000" marL="1143000"/>
            <a:r>
              <a:rPr b="1" dirty="0" i="1" lang="en-US" smtClean="0" sz="7200"/>
              <a:t>Straight Peg</a:t>
            </a:r>
            <a:r>
              <a:rPr b="1" dirty="0" lang="en-US" smtClean="0" sz="7200"/>
              <a:t> – Flies at a higher angle, but less distance.</a:t>
            </a:r>
          </a:p>
          <a:p>
            <a:pPr algn="l" indent="-1143000" marL="1143000"/>
            <a:r>
              <a:rPr b="1" dirty="0" i="1" lang="en-US" smtClean="0" sz="7200"/>
              <a:t>Angled Peg</a:t>
            </a:r>
            <a:r>
              <a:rPr b="1" dirty="0" lang="en-US" smtClean="0" sz="7200"/>
              <a:t> – Launches in a straighter trajectory (path). More distance, less height.</a:t>
            </a:r>
            <a:endParaRPr b="1" dirty="0" lang="en-US" smtClean="0" sz="8000"/>
          </a:p>
          <a:p>
            <a:endParaRPr b="1" dirty="0" lang="en-US" smtClean="0" sz="8000"/>
          </a:p>
          <a:p>
            <a:endParaRPr b="1" dirty="0" lang="en-US" smtClean="0" sz="8000"/>
          </a:p>
        </p:txBody>
      </p:sp>
    </p:spTree>
    <p:extLst>
      <p:ext uri="{BB962C8B-B14F-4D97-AF65-F5344CB8AC3E}">
        <p14:creationId xmlns="" xmlns:p14="http://schemas.microsoft.com/office/powerpoint/2010/main" val="3030741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1" y="1"/>
            <a:ext cx="12143509" cy="2267711"/>
          </a:xfrm>
        </p:spPr>
        <p:txBody>
          <a:bodyPr numCol="1">
            <a:noAutofit/>
          </a:bodyPr>
          <a:lstStyle/>
          <a:p>
            <a:r>
              <a:rPr b="1" dirty="0" lang="en-US" smtClean="0" sz="6600" u="sng">
                <a:latin charset="-79" panose="02010803020104030203" pitchFamily="2" typeface="Aharoni"/>
                <a:cs charset="-79" panose="02010803020104030203" pitchFamily="2" typeface="Aharoni"/>
              </a:rPr>
              <a:t>Will a CAN of Soda Create a Geyser</a:t>
            </a:r>
            <a:r>
              <a:rPr b="1" dirty="0" lang="en-US" smtClean="0" sz="6600">
                <a:latin charset="-79" panose="02010803020104030203" pitchFamily="2" typeface="Aharoni"/>
                <a:cs charset="-79" panose="02010803020104030203" pitchFamily="2" typeface="Aharoni"/>
              </a:rPr>
              <a:t> </a:t>
            </a:r>
            <a:r>
              <a:rPr b="1" dirty="0" lang="en-US" smtClean="0" sz="4800">
                <a:latin charset="-79" panose="02010803020104030203" pitchFamily="2" typeface="Aharoni"/>
                <a:cs charset="-79" panose="02010803020104030203" pitchFamily="2" typeface="Aharoni"/>
              </a:rPr>
              <a:t>(</a:t>
            </a:r>
            <a:r>
              <a:rPr b="1" dirty="0" lang="en-US" smtClean="0" sz="4800" u="sng">
                <a:latin charset="-79" panose="02010803020104030203" pitchFamily="2" typeface="Aharoni"/>
                <a:cs charset="-79" panose="02010803020104030203" pitchFamily="2" typeface="Aharoni"/>
              </a:rPr>
              <a:t>instead of a Bottle</a:t>
            </a:r>
            <a:r>
              <a:rPr b="1" dirty="0" lang="en-US" smtClean="0" sz="4800">
                <a:latin charset="-79" panose="02010803020104030203" pitchFamily="2" typeface="Aharoni"/>
                <a:cs charset="-79" panose="02010803020104030203" pitchFamily="2" typeface="Aharoni"/>
              </a:rPr>
              <a:t>)</a:t>
            </a:r>
            <a:r>
              <a:rPr b="1" dirty="0" lang="en-US" smtClean="0" sz="6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2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610683"/>
            <a:ext cx="11658600" cy="424731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pPr indent="-1143000" marL="1143000">
              <a:buFont charset="0" pitchFamily="34" typeface="Arial"/>
              <a:buChar char="•"/>
            </a:pPr>
            <a:r>
              <a:rPr b="1" dirty="0" lang="en-US" smtClean="0" sz="5400"/>
              <a:t>Cans have a flat top with an opening on the side. </a:t>
            </a:r>
          </a:p>
          <a:p>
            <a:pPr indent="-1143000" marL="1143000">
              <a:buFont charset="0" pitchFamily="34" typeface="Arial"/>
              <a:buChar char="•"/>
            </a:pPr>
            <a:r>
              <a:rPr b="1" dirty="0" lang="en-US" smtClean="0" sz="5400"/>
              <a:t>Bottles have cone-shaped tops which direct the soda to a center opening.</a:t>
            </a:r>
          </a:p>
        </p:txBody>
      </p:sp>
    </p:spTree>
    <p:extLst>
      <p:ext uri="{BB962C8B-B14F-4D97-AF65-F5344CB8AC3E}">
        <p14:creationId xmlns="" xmlns:p14="http://schemas.microsoft.com/office/powerpoint/2010/main" val="367827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Does Regular Soda or Diet Soda Go Higher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657600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Diet. Aspartame (fake sugar) creates a stronger reaction than real sugar.</a:t>
            </a:r>
          </a:p>
        </p:txBody>
      </p:sp>
    </p:spTree>
    <p:extLst>
      <p:ext uri="{BB962C8B-B14F-4D97-AF65-F5344CB8AC3E}">
        <p14:creationId xmlns="" xmlns:p14="http://schemas.microsoft.com/office/powerpoint/2010/main" val="383140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1239699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Is Sugar Required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2322576"/>
            <a:ext cx="12192000" cy="4337997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No! Seltzer Water created the highest geyser in our testing, probably because it has the most carbonation.</a:t>
            </a:r>
          </a:p>
        </p:txBody>
      </p:sp>
    </p:spTree>
    <p:extLst>
      <p:ext uri="{BB962C8B-B14F-4D97-AF65-F5344CB8AC3E}">
        <p14:creationId xmlns="" xmlns:p14="http://schemas.microsoft.com/office/powerpoint/2010/main" val="383140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1" y="1207368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Why Do Mentos Create a Geyser (compared to other candies)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3"/>
            <a:ext cx="12192000" cy="3657600"/>
          </a:xfrm>
        </p:spPr>
        <p:txBody>
          <a:bodyPr numCol="1">
            <a:noAutofit/>
          </a:bodyPr>
          <a:lstStyle/>
          <a:p>
            <a:endParaRPr b="1" dirty="0" lang="en-US" smtClean="0" sz="8000"/>
          </a:p>
          <a:p>
            <a:r>
              <a:rPr b="1" dirty="0" lang="en-US" smtClean="0" sz="8000"/>
              <a:t>Hundreds of tiny holes on the surface of the Mentos</a:t>
            </a:r>
          </a:p>
        </p:txBody>
      </p:sp>
    </p:spTree>
    <p:extLst>
      <p:ext uri="{BB962C8B-B14F-4D97-AF65-F5344CB8AC3E}">
        <p14:creationId xmlns="" xmlns:p14="http://schemas.microsoft.com/office/powerpoint/2010/main" val="210214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Does the Soda Temperature Matter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2"/>
            <a:ext cx="12192000" cy="3855027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Yes. Cold soda reduces the reaction, which results in a shorter geyser.</a:t>
            </a:r>
          </a:p>
        </p:txBody>
      </p:sp>
    </p:spTree>
    <p:extLst>
      <p:ext uri="{BB962C8B-B14F-4D97-AF65-F5344CB8AC3E}">
        <p14:creationId xmlns="" xmlns:p14="http://schemas.microsoft.com/office/powerpoint/2010/main" val="1036423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2387600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Does the Type of Diet Soda Matter</a:t>
            </a:r>
            <a:r>
              <a:rPr b="1" dirty="0" lang="en-US" smtClean="0" sz="9600">
                <a:latin charset="-79" panose="02010803020104030203" pitchFamily="2" typeface="Aharoni"/>
                <a:cs charset="-79" panose="02010803020104030203" pitchFamily="2" typeface="Aharoni"/>
              </a:rPr>
              <a:t>?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3002972"/>
            <a:ext cx="12192000" cy="3855027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Yes. The amounts of both aspartame and carbonation impact the reaction.</a:t>
            </a:r>
          </a:p>
        </p:txBody>
      </p:sp>
    </p:spTree>
    <p:extLst>
      <p:ext uri="{BB962C8B-B14F-4D97-AF65-F5344CB8AC3E}">
        <p14:creationId xmlns="" xmlns:p14="http://schemas.microsoft.com/office/powerpoint/2010/main" val="4054255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1157403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Viking Ship: Goal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1764792"/>
            <a:ext cx="12192000" cy="5093207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Float atop big waves in a storm instead of getting swamped by waves </a:t>
            </a:r>
          </a:p>
          <a:p>
            <a:r>
              <a:rPr b="1" dirty="0" lang="en-US" smtClean="0" sz="8000"/>
              <a:t>(and sinking)</a:t>
            </a:r>
          </a:p>
          <a:p>
            <a:endParaRPr b="1" dirty="0" lang="en-US" smtClean="0" sz="8000"/>
          </a:p>
        </p:txBody>
      </p:sp>
    </p:spTree>
    <p:extLst>
      <p:ext uri="{BB962C8B-B14F-4D97-AF65-F5344CB8AC3E}">
        <p14:creationId xmlns="" xmlns:p14="http://schemas.microsoft.com/office/powerpoint/2010/main" val="4054255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90" y="259917"/>
            <a:ext cx="12143509" cy="1157403"/>
          </a:xfrm>
        </p:spPr>
        <p:txBody>
          <a:bodyPr numCol="1">
            <a:noAutofit/>
          </a:bodyPr>
          <a:lstStyle/>
          <a:p>
            <a:r>
              <a:rPr b="1" dirty="0" lang="en-US" smtClean="0" sz="8000" u="sng">
                <a:latin charset="-79" panose="02010803020104030203" pitchFamily="2" typeface="Aharoni"/>
                <a:cs charset="-79" panose="02010803020104030203" pitchFamily="2" typeface="Aharoni"/>
              </a:rPr>
              <a:t>Viking Ship: Science</a:t>
            </a:r>
            <a:endParaRPr b="1" dirty="0" lang="en-US" sz="4400" u="sng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0" y="1682496"/>
            <a:ext cx="12192000" cy="5093207"/>
          </a:xfrm>
        </p:spPr>
        <p:txBody>
          <a:bodyPr numCol="1">
            <a:noAutofit/>
          </a:bodyPr>
          <a:lstStyle/>
          <a:p>
            <a:r>
              <a:rPr b="1" dirty="0" lang="en-US" smtClean="0" sz="8000"/>
              <a:t>Warm air is lighter than cold air. </a:t>
            </a:r>
            <a:r>
              <a:rPr b="1" dirty="0" lang="en-US" smtClean="0" sz="7200"/>
              <a:t>It pushes down on the ship with less force (gravity). This lets the ship rise with the wave instead of tipping over.</a:t>
            </a:r>
          </a:p>
          <a:p>
            <a:endParaRPr b="1" dirty="0" lang="en-US" smtClean="0" sz="8000"/>
          </a:p>
        </p:txBody>
      </p:sp>
    </p:spTree>
    <p:extLst>
      <p:ext uri="{BB962C8B-B14F-4D97-AF65-F5344CB8AC3E}">
        <p14:creationId xmlns="" xmlns:p14="http://schemas.microsoft.com/office/powerpoint/2010/main" val="4054255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87" y="365125"/>
            <a:ext cx="11166513" cy="6366181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  <a:t>Materials Needed</a:t>
            </a:r>
            <a:endParaRPr b="1" dirty="0" lang="en-US" sz="166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25726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Paper Airplanes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Scotch tape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Child-safe scissors (optional)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z="3600"/>
              <a:t>Copies of paper airplane </a:t>
            </a:r>
            <a:r>
              <a:rPr dirty="0" lang="en-US" smtClean="0" sz="3600"/>
              <a:t>models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Copies of instructions for airplane models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z="3600"/>
              <a:t>Paper: white, construction, stock</a:t>
            </a:r>
          </a:p>
          <a:p>
            <a:pPr indent="0" lvl="0" marL="0">
              <a:buNone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626413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Laser Waterfall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4327"/>
          </a:xfrm>
        </p:spPr>
        <p:txBody>
          <a:bodyPr numCol="1">
            <a:normAutofit fontScale="85000" lnSpcReduction="20000"/>
          </a:bodyPr>
          <a:lstStyle/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Bottles with holes drilled about ¼ from bottom </a:t>
            </a:r>
            <a:br>
              <a:rPr dirty="0" lang="en-US" smtClean="0" sz="3600"/>
            </a:br>
            <a:r>
              <a:rPr dirty="0" lang="en-US" smtClean="0" sz="3600"/>
              <a:t>(2-liter soda bottles work fine)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Corks to plug holes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Laser – </a:t>
            </a:r>
            <a:r>
              <a:rPr dirty="0" lang="en-US" smtClean="0" sz="3200"/>
              <a:t>532nm </a:t>
            </a:r>
            <a:r>
              <a:rPr dirty="0" lang="en-US" sz="3200"/>
              <a:t>50mw Green </a:t>
            </a:r>
            <a:r>
              <a:rPr dirty="0" lang="en-US" smtClean="0" sz="3200"/>
              <a:t>Laser </a:t>
            </a:r>
            <a:r>
              <a:rPr dirty="0" lang="en-US" sz="3200"/>
              <a:t>Dot Diode Module for Cutting 18x75mm 3v-5VDC with K9 Coated Glass Lens &amp; AC Adapter &amp; </a:t>
            </a:r>
            <a:r>
              <a:rPr dirty="0" lang="en-US" smtClean="0" sz="3200"/>
              <a:t>Heatsink, from Lilly Maria on Amazon.com ($40)</a:t>
            </a:r>
            <a:endParaRPr dirty="0" lang="en-US" smtClean="0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Liquids: water, milk, juice, lemonade, soda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Container to catch liquid waterfall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Containers/stands to hold laser and bottle above liquid-catching bottle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Extension cord (to plug in laser)</a:t>
            </a:r>
            <a:endParaRPr dirty="0" lang="en-US" sz="3600"/>
          </a:p>
          <a:p>
            <a:pPr indent="0" lvl="0" marL="0">
              <a:buNone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918006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Mentos Geysers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4327"/>
          </a:xfrm>
        </p:spPr>
        <p:txBody>
          <a:bodyPr numCol="1">
            <a:normAutofit fontScale="92500" lnSpcReduction="20000"/>
          </a:bodyPr>
          <a:lstStyle/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Unopened sold bottles:</a:t>
            </a:r>
          </a:p>
          <a:p>
            <a:pPr lvl="1"/>
            <a:r>
              <a:rPr dirty="0" lang="en-US" smtClean="0" sz="3200"/>
              <a:t>Cola, Diet Cola, Sprite, Seltzer water, </a:t>
            </a:r>
            <a:r>
              <a:rPr dirty="0" err="1" lang="en-US" smtClean="0" sz="3200"/>
              <a:t>Mtn</a:t>
            </a:r>
            <a:r>
              <a:rPr dirty="0" lang="en-US" smtClean="0" sz="3200"/>
              <a:t> Dew, other</a:t>
            </a:r>
          </a:p>
          <a:p>
            <a:pPr lvl="1"/>
            <a:r>
              <a:rPr dirty="0" lang="en-US" smtClean="0" sz="3200"/>
              <a:t>Fred Meyer brand is cheap and works great</a:t>
            </a:r>
            <a:endParaRPr dirty="0" lang="en-US" sz="32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Mentos (available in bulk at Costco)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Low/wide container to place soda bottle in to catch soda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Tarps to catch what misses the container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Towels!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Container to dump soda in (or nearby sink)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Screw-on tube to hold that can easily dump Mentos into bottle (Optional. Available at toy stores.)</a:t>
            </a:r>
            <a:endParaRPr dirty="0" lang="en-US" sz="3600"/>
          </a:p>
          <a:p>
            <a:pPr indent="0" lvl="0" marL="0">
              <a:buNone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822048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Viking Ship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4327"/>
          </a:xfrm>
        </p:spPr>
        <p:txBody>
          <a:bodyPr numCol="1">
            <a:normAutofit fontScale="92500" lnSpcReduction="20000"/>
          </a:bodyPr>
          <a:lstStyle/>
          <a:p>
            <a:pPr indent="-514350" lvl="0" marL="514350">
              <a:buFont typeface="+mj-lt"/>
              <a:buAutoNum type="arabicPeriod"/>
            </a:pPr>
            <a:r>
              <a:rPr dirty="0" lang="en-US" smtClean="0" sz="3200"/>
              <a:t>Large “wine” corks, cut in half length-wise so there is a flat bottom and rounded top. Drill 3 holes into the </a:t>
            </a:r>
            <a:r>
              <a:rPr dirty="0" lang="en-US" smtClean="0" sz="3600"/>
              <a:t>rounded top.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Clear container for “ocean” filled with ½ inch of water and blue food coloring.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Clear plastic cup or vase to place on top of lit ship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Washers or other flat objects that slightly raise cup off container bottom 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Matches</a:t>
            </a:r>
          </a:p>
          <a:p>
            <a:pPr indent="-514350" lvl="0" marL="514350">
              <a:buFont typeface="+mj-lt"/>
              <a:buAutoNum type="arabicPeriod"/>
            </a:pPr>
            <a:r>
              <a:rPr dirty="0" lang="en-US" smtClean="0" sz="3600"/>
              <a:t>Lighter (safer &amp; easier than matches since you don’t have </a:t>
            </a:r>
            <a:r>
              <a:rPr lang="en-US" smtClean="0" sz="3600"/>
              <a:t>to quickly throw </a:t>
            </a:r>
            <a:r>
              <a:rPr dirty="0" lang="en-US" smtClean="0" sz="3600"/>
              <a:t>away a match during the experiment)</a:t>
            </a:r>
          </a:p>
          <a:p>
            <a:pPr indent="-514350" lvl="0" marL="514350">
              <a:buFont typeface="+mj-lt"/>
              <a:buAutoNum type="arabicPeriod"/>
            </a:pPr>
            <a:endParaRPr dirty="0" lang="en-US" smtClean="0" sz="3600"/>
          </a:p>
          <a:p>
            <a:pPr indent="-514350" lvl="0" marL="514350">
              <a:buFont typeface="+mj-lt"/>
              <a:buAutoNum type="arabicPeriod"/>
            </a:pPr>
            <a:endParaRPr dirty="0" lang="en-US" smtClean="0" sz="3600"/>
          </a:p>
          <a:p>
            <a:pPr indent="-514350" lvl="0" marL="514350">
              <a:buFont typeface="+mj-lt"/>
              <a:buAutoNum type="arabicPeriod"/>
            </a:pPr>
            <a:endParaRPr dirty="0" lang="en-US" sz="3600"/>
          </a:p>
          <a:p>
            <a:pPr indent="0" lvl="0" marL="0">
              <a:buNone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822048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87" y="365125"/>
            <a:ext cx="11166513" cy="6366181"/>
          </a:xfrm>
        </p:spPr>
        <p:txBody>
          <a:bodyPr numCol="1">
            <a:noAutofit/>
          </a:bodyPr>
          <a:lstStyle/>
          <a:p>
            <a:pPr algn="ctr"/>
            <a:r>
              <a:rPr b="1" dirty="0" lang="en-US" smtClean="0" sz="16600">
                <a:latin charset="-79" panose="02010803020104030203" pitchFamily="2" typeface="Aharoni"/>
                <a:cs charset="-79" panose="02010803020104030203" pitchFamily="2" typeface="Aharoni"/>
              </a:rPr>
              <a:t>Volunteer Instruction Slides</a:t>
            </a:r>
            <a:endParaRPr b="1" dirty="0" lang="en-US" sz="166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6360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Laser Waterfall Instructions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Place </a:t>
            </a:r>
            <a:r>
              <a:rPr b="1" dirty="0" lang="en-US" sz="3600"/>
              <a:t>cork in hole in front of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Using funnel, pour water close to top of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Plug in laser to turn it on (there is no </a:t>
            </a:r>
            <a:r>
              <a:rPr b="1" dirty="0" lang="en-US" smtClean="0" sz="3600"/>
              <a:t>on/off switch</a:t>
            </a:r>
            <a:r>
              <a:rPr b="1" dirty="0" lang="en-US" sz="3600"/>
              <a:t>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Line up laser thru corked hole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Pull cork out of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After water stops, turn off laser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3600"/>
              <a:t>Pour water from container back into </a:t>
            </a:r>
            <a:r>
              <a:rPr b="1" dirty="0" lang="en-US" smtClean="0" sz="3600"/>
              <a:t>bottle</a:t>
            </a: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  <p:pic>
        <p:nvPicPr>
          <p:cNvPr descr="C:\Users\Steven\Documents\str\ExploringScienceNight\thumbnails\Laser_step3.png" id="6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357616" y="3636010"/>
            <a:ext cx="3166872" cy="19317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929566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Laser Waterfall Instructions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pic>
        <p:nvPicPr>
          <p:cNvPr descr="C:\Users\Steven\Documents\str\ExploringScienceNight\thumbnails\Laser_step1.png" id="9218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358648" y="1818894"/>
            <a:ext cx="3234944" cy="2426208"/>
          </a:xfrm>
          <a:prstGeom prst="rect">
            <a:avLst/>
          </a:prstGeom>
          <a:noFill/>
        </p:spPr>
      </p:pic>
      <p:pic>
        <p:nvPicPr>
          <p:cNvPr descr="C:\Users\Steven\Documents\str\ExploringScienceNight\thumbnails\Laser_step2.png" id="10242" name="Picture 2"/>
          <p:cNvPicPr>
            <a:picLocks noChangeArrowheads="1" noChangeAspect="1"/>
          </p:cNvPicPr>
          <p:nvPr/>
        </p:nvPicPr>
        <p:blipFill>
          <a:blip cstate="print" r:embed="rId3"/>
          <a:srcRect/>
          <a:stretch>
            <a:fillRect/>
          </a:stretch>
        </p:blipFill>
        <p:spPr>
          <a:xfrm>
            <a:off x="4090543" y="1822322"/>
            <a:ext cx="3727578" cy="2400482"/>
          </a:xfrm>
          <a:prstGeom prst="rect">
            <a:avLst/>
          </a:prstGeom>
          <a:noFill/>
        </p:spPr>
      </p:pic>
      <p:pic>
        <p:nvPicPr>
          <p:cNvPr descr="C:\Users\Steven\Documents\str\ExploringScienceNight\thumbnails\Laser_step3.png" id="10243" name="Picture 3"/>
          <p:cNvPicPr>
            <a:picLocks noChangeArrowheads="1" noChangeAspect="1"/>
          </p:cNvPicPr>
          <p:nvPr/>
        </p:nvPicPr>
        <p:blipFill>
          <a:blip cstate="print" r:embed="rId4"/>
          <a:srcRect/>
          <a:stretch>
            <a:fillRect/>
          </a:stretch>
        </p:blipFill>
        <p:spPr>
          <a:xfrm>
            <a:off x="8094471" y="1843786"/>
            <a:ext cx="3829305" cy="2335876"/>
          </a:xfrm>
          <a:prstGeom prst="rect">
            <a:avLst/>
          </a:prstGeom>
          <a:noFill/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07848" y="4321937"/>
            <a:ext cx="3249168" cy="2536063"/>
          </a:xfrm>
        </p:spPr>
        <p:txBody>
          <a:bodyPr numCol="1">
            <a:normAutofit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2000"/>
              <a:t>Place </a:t>
            </a:r>
            <a:r>
              <a:rPr b="1" dirty="0" lang="en-US" sz="2000"/>
              <a:t>cork in hole in front of bottle</a:t>
            </a:r>
            <a:endParaRPr dirty="0" lang="en-US" sz="20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z="2000"/>
              <a:t>Using funnel, pour water close to top of bottle</a:t>
            </a:r>
            <a:endParaRPr dirty="0" lang="en-US" sz="2000"/>
          </a:p>
          <a:p>
            <a:pPr indent="0" marL="0">
              <a:buNone/>
            </a:pPr>
            <a:endParaRPr dirty="0" lang="en-US" sz="200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95928" y="4321937"/>
            <a:ext cx="3846576" cy="25360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algn="l" defTabSz="914400" eaLnBrk="1" hangingPunct="1" indent="-514350" latinLnBrk="0" lvl="0" marL="51435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startAt="3" type="arabicPeriod"/>
              <a:tabLst/>
              <a:defRPr/>
            </a:pPr>
            <a:r>
              <a:rPr b="1" baseline="0" cap="none" dirty="0" i="0" kern="1200" kumimoji="0" lang="en-US" noProof="0" normalizeH="0" smtClean="0" spc="0" strike="noStrike" sz="2000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Plug in laser to turn it on (there is no on/off switch)</a:t>
            </a:r>
            <a:endParaRPr b="0" baseline="0" cap="none" dirty="0" i="0" kern="1200" kumimoji="0" lang="en-US" noProof="0" normalizeH="0" smtClean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hangingPunct="1" indent="-514350" latinLnBrk="0" lvl="0" marL="51435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startAt="3" type="arabicPeriod"/>
              <a:tabLst/>
              <a:defRPr/>
            </a:pPr>
            <a:r>
              <a:rPr b="1" baseline="0" cap="none" dirty="0" i="0" kern="1200" kumimoji="0" lang="en-US" noProof="0" normalizeH="0" smtClean="0" spc="0" strike="noStrike" sz="2000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 up laser thru corked hole</a:t>
            </a:r>
            <a:endParaRPr b="0" baseline="0" cap="none" dirty="0" i="0" kern="1200" kumimoji="0" lang="en-US" noProof="0" normalizeH="0" smtClean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138160" y="4321937"/>
            <a:ext cx="3877056" cy="25360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algn="l" defTabSz="914400" eaLnBrk="1" hangingPunct="1" indent="-514350" latinLnBrk="0" lvl="0" marL="51435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startAt="5" type="arabicPeriod"/>
              <a:tabLst/>
              <a:defRPr/>
            </a:pPr>
            <a:r>
              <a:rPr b="1" baseline="0" cap="none" dirty="0" i="0" kern="1200" kumimoji="0" lang="en-US" noProof="0" normalizeH="0" smtClean="0" spc="0" strike="noStrike" sz="2000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Pull cork out of bottle</a:t>
            </a:r>
            <a:endParaRPr b="0" baseline="0" cap="none" dirty="0" i="0" kern="1200" kumimoji="0" lang="en-US" noProof="0" normalizeH="0" smtClean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hangingPunct="1" indent="-514350" latinLnBrk="0" lvl="0" marL="51435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startAt="5" type="arabicPeriod"/>
              <a:tabLst/>
              <a:defRPr/>
            </a:pPr>
            <a:r>
              <a:rPr b="1" baseline="0" cap="none" dirty="0" i="0" kern="1200" kumimoji="0" lang="en-US" noProof="0" normalizeH="0" smtClean="0" spc="0" strike="noStrike" sz="2000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After water stops, turn off laser</a:t>
            </a:r>
            <a:endParaRPr b="0" baseline="0" cap="none" dirty="0" i="0" kern="1200" kumimoji="0" lang="en-US" noProof="0" normalizeH="0" smtClean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hangingPunct="1" indent="-514350" latinLnBrk="0" lvl="0" marL="51435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startAt="5" type="arabicPeriod"/>
              <a:tabLst/>
              <a:defRPr/>
            </a:pPr>
            <a:r>
              <a:rPr b="1" baseline="0" cap="none" dirty="0" i="0" kern="1200" kumimoji="0" lang="en-US" noProof="0" normalizeH="0" smtClean="0" spc="0" strike="noStrike" sz="2000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Pour water from container back into bottle</a:t>
            </a:r>
            <a:endParaRPr b="0" baseline="0" cap="none" dirty="0" i="0" kern="1200" kumimoji="0" lang="en-US" noProof="0" normalizeH="0" smtClean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hangingPunct="1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charset="0" panose="020B0604020202020204" pitchFamily="34" typeface="Arial"/>
              <a:buNone/>
              <a:tabLst/>
              <a:defRPr/>
            </a:pPr>
            <a:endParaRPr b="0" baseline="0" cap="none" dirty="0" i="0" kern="1200" kumimoji="0" lang="en-US" noProof="0" normalizeH="0" spc="0" strike="noStrike" sz="2000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29566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Mentos Geyser Instructions</a:t>
            </a:r>
            <a:b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</a:br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(without screw-on tube)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Put bottle in platter </a:t>
            </a:r>
            <a:endParaRPr b="1"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Get 2-4 Mentos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Remove top from soda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Quickly drop in Mentos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Dump soda into large container </a:t>
            </a:r>
          </a:p>
          <a:p>
            <a:pPr indent="0" lvl="0" marL="0">
              <a:buNone/>
            </a:pPr>
            <a:r>
              <a:rPr b="1" dirty="0" lang="en-US" sz="3600"/>
              <a:t>	</a:t>
            </a:r>
            <a:r>
              <a:rPr dirty="0" lang="en-US" smtClean="0" sz="3600"/>
              <a:t>(to dump down sink at the end)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500249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Mentos Geyser Instructions</a:t>
            </a:r>
            <a:b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</a:br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(with screw-on tube)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Put bottle in platter </a:t>
            </a:r>
            <a:endParaRPr b="1"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Close barrier in bottom of tube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Get 2-4 Mentos in tube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Remove top from soda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Screw tube onto soda bottle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Remove barrier so Mentos drop into soda bottle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Dump soda into large container </a:t>
            </a:r>
          </a:p>
          <a:p>
            <a:pPr indent="0" lvl="0" marL="0">
              <a:buNone/>
            </a:pPr>
            <a:r>
              <a:rPr b="1" dirty="0" lang="en-US" sz="3600"/>
              <a:t>	</a:t>
            </a:r>
            <a:r>
              <a:rPr dirty="0" lang="en-US" smtClean="0" sz="3600"/>
              <a:t>(to dump down sink at the end)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23989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Catapult Instructions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Make sure catapult is screwed onto board or clamped onto table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Place projectile (bean bag) into catapult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Aim catapult</a:t>
            </a:r>
            <a:endParaRPr b="1"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Pull back arm of catapult</a:t>
            </a:r>
            <a:endParaRPr b="1"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Release to launch!</a:t>
            </a:r>
            <a:endParaRPr dirty="0" lang="en-US" sz="3600"/>
          </a:p>
          <a:p>
            <a:pPr indent="0" marL="0">
              <a:buNone/>
            </a:pP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4230701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Trebuchet Instructions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55000" lnSpcReduction="20000"/>
          </a:bodyPr>
          <a:lstStyle/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Place counter-weights (coins) in tray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Place release ring (non-attached end of rope holding sling pouch)</a:t>
            </a:r>
            <a:br>
              <a:rPr b="1" dirty="0" lang="en-US" smtClean="0" sz="3600"/>
            </a:br>
            <a:r>
              <a:rPr b="1" dirty="0" lang="en-US" smtClean="0" sz="3600"/>
              <a:t>into either Straight or Angled release peg at top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Holding trigger ring on bottom of sling pouch, pull sling pouch under axle until between two holes at front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Slide trigger dowel (stick with trigger cord) thru side holes and the trigger ring</a:t>
            </a:r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Place projectile (ball) into sling</a:t>
            </a:r>
            <a:endParaRPr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Aim trebuchet</a:t>
            </a:r>
            <a:endParaRPr b="1" dirty="0" lang="en-US" sz="3600"/>
          </a:p>
          <a:p>
            <a:pPr indent="-514350" lvl="0" marL="514350">
              <a:buFont typeface="+mj-lt"/>
              <a:buAutoNum type="arabicPeriod"/>
            </a:pPr>
            <a:r>
              <a:rPr b="1" dirty="0" lang="en-US" smtClean="0" sz="3600"/>
              <a:t>Quickly pull trigger cord to fire!</a:t>
            </a:r>
            <a:endParaRPr b="1" dirty="0" lang="en-US" sz="3600"/>
          </a:p>
          <a:p>
            <a:pPr indent="0" marL="0">
              <a:buNone/>
            </a:pPr>
            <a:endParaRPr dirty="0" lang="en-US" smtClean="0" sz="3600"/>
          </a:p>
          <a:p>
            <a:pPr indent="0" marL="0">
              <a:buNone/>
            </a:pPr>
            <a:r>
              <a:rPr b="1" dirty="0" lang="en-US" smtClean="0" sz="3600"/>
              <a:t>To increase distance, use a heavier counter-weight.</a:t>
            </a:r>
          </a:p>
          <a:p>
            <a:pPr indent="0" marL="0">
              <a:buNone/>
            </a:pPr>
            <a:r>
              <a:rPr b="1" dirty="0" lang="en-US" smtClean="0" sz="3600"/>
              <a:t>Straight release peg – More angle, less distance</a:t>
            </a:r>
          </a:p>
          <a:p>
            <a:pPr indent="0" marL="0">
              <a:buNone/>
            </a:pPr>
            <a:r>
              <a:rPr b="1" dirty="0" lang="en-US" smtClean="0" sz="3600"/>
              <a:t>Angled release peg – Straighter trajectory, more distance.</a:t>
            </a:r>
            <a:endParaRPr b="1"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51937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Viking Ship Instructions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85000" lnSpcReduction="10000"/>
          </a:bodyPr>
          <a:lstStyle/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Fill container with ½ inch of water &amp; food coloring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Place washers at bottom. (These are used to hold the cup slightly above the bottom of the container.)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Place 3 matches in holes of “ship”. The curved part of the cork faces up.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Light the matches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Quickly place ship in water between washers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Quickly place clear plastic cup on top of washers above ship</a:t>
            </a:r>
          </a:p>
          <a:p>
            <a:pPr indent="-742950" marL="742950">
              <a:buFont typeface="+mj-lt"/>
              <a:buAutoNum type="arabicPeriod"/>
            </a:pPr>
            <a:r>
              <a:rPr dirty="0" lang="en-US" smtClean="0" sz="3600"/>
              <a:t>Water level within the cup will rise – raising the ship with it</a:t>
            </a: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Viking Ship: 3 Cups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indent="-742950" marL="742950"/>
            <a:r>
              <a:rPr dirty="0" lang="en-US" smtClean="0" sz="3600"/>
              <a:t>Clear Plastic Cup – Placed on top of washers and lit ship during experiment</a:t>
            </a:r>
          </a:p>
          <a:p>
            <a:pPr indent="-742950" marL="742950"/>
            <a:r>
              <a:rPr dirty="0" lang="en-US" smtClean="0" sz="3600"/>
              <a:t>Blue Disposable Cup – Keep some water in here to ensure matches are fully extinguished</a:t>
            </a:r>
          </a:p>
          <a:p>
            <a:pPr indent="-742950" marL="742950"/>
            <a:r>
              <a:rPr dirty="0" lang="en-US" smtClean="0" sz="3600"/>
              <a:t>Blue Thick Plastic Cup – Safe temporary trash can for used matches</a:t>
            </a:r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Ultrasonic Atomizer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25056" cy="4351338"/>
          </a:xfrm>
        </p:spPr>
        <p:txBody>
          <a:bodyPr numCol="1">
            <a:normAutofit fontScale="77500" lnSpcReduction="20000"/>
          </a:bodyPr>
          <a:lstStyle/>
          <a:p>
            <a:pPr indent="-742950" marL="742950"/>
            <a:r>
              <a:rPr dirty="0" lang="en-US" smtClean="0" sz="4300"/>
              <a:t>Used in Humidifiers</a:t>
            </a:r>
          </a:p>
          <a:p>
            <a:pPr indent="-742950" marL="742950"/>
            <a:r>
              <a:rPr dirty="0" lang="en-US" smtClean="0" sz="4300"/>
              <a:t>Vibrates at the appropriate frequency to turn water into steam (instead of boiling)</a:t>
            </a:r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r>
              <a:rPr dirty="0" lang="en-US" smtClean="0" sz="4100"/>
              <a:t>Fogger or mist maker</a:t>
            </a:r>
          </a:p>
          <a:p>
            <a:pPr indent="-742950" marL="742950"/>
            <a:r>
              <a:rPr dirty="0" lang="en-US" smtClean="0" sz="4100"/>
              <a:t>Place in bowl of water. Plug in.</a:t>
            </a:r>
          </a:p>
          <a:p>
            <a:pPr indent="-742950" marL="742950"/>
            <a:r>
              <a:rPr b="1" dirty="0" lang="en-US" smtClean="0" sz="4100"/>
              <a:t>DO NOT TOUCH</a:t>
            </a:r>
            <a:r>
              <a:rPr dirty="0" lang="en-US" smtClean="0" sz="4100"/>
              <a:t> while operating.     It will produce a stinging sensation.</a:t>
            </a:r>
          </a:p>
          <a:p>
            <a:pPr indent="-742950" marL="742950"/>
            <a:r>
              <a:rPr b="1" dirty="0" lang="en-US" smtClean="0" sz="4100"/>
              <a:t>Do NOT clean</a:t>
            </a:r>
            <a:r>
              <a:rPr dirty="0" lang="en-US" smtClean="0" sz="4100"/>
              <a:t> with chemicals</a:t>
            </a:r>
            <a:endParaRPr dirty="0" lang="en-US" sz="4100"/>
          </a:p>
        </p:txBody>
      </p:sp>
      <p:pic>
        <p:nvPicPr>
          <p:cNvPr id="3075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7670059" y="3203828"/>
            <a:ext cx="4375637" cy="1706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rrowheads="1" noChangeAspect="1"/>
          </p:cNvPicPr>
          <p:nvPr/>
        </p:nvPicPr>
        <p:blipFill>
          <a:blip cstate="print" r:embed="rId3"/>
          <a:srcRect b="7119" l="65360" t="18496"/>
          <a:stretch>
            <a:fillRect/>
          </a:stretch>
        </p:blipFill>
        <p:spPr>
          <a:xfrm>
            <a:off x="9774936" y="923544"/>
            <a:ext cx="2243328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3-D </a:t>
            </a:r>
            <a:r>
              <a:rPr b="1" dirty="0" err="1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Mirascope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144" y="1807337"/>
            <a:ext cx="5791200" cy="4351338"/>
          </a:xfrm>
        </p:spPr>
        <p:txBody>
          <a:bodyPr numCol="1">
            <a:normAutofit fontScale="85000" lnSpcReduction="20000"/>
          </a:bodyPr>
          <a:lstStyle/>
          <a:p>
            <a:pPr indent="-742950" marL="742950"/>
            <a:r>
              <a:rPr dirty="0" lang="en-US" smtClean="0" sz="3600"/>
              <a:t>2 parabolic mirrors that are facing each other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r>
              <a:rPr dirty="0" lang="en-US" smtClean="0" sz="3600"/>
              <a:t>Top mirror has a hole in the center where the hologram effect takes place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r>
              <a:rPr dirty="0" lang="en-US" smtClean="0" sz="3600"/>
              <a:t>By setting an object in the bottom parabolic mirror, it is projected as a solid object in the opening of the top mirror</a:t>
            </a:r>
            <a:endParaRPr dirty="0" lang="en-US" sz="3600"/>
          </a:p>
        </p:txBody>
      </p:sp>
      <p:pic>
        <p:nvPicPr>
          <p:cNvPr descr="C:\Users\Steven\Documents\str\ExploringScienceNight\thumbnails\3DMirascope_step3.png" id="8" name="Picture 4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6588760" y="2103754"/>
            <a:ext cx="5603240" cy="32218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3-D </a:t>
            </a:r>
            <a:r>
              <a:rPr b="1" dirty="0" err="1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Mirascope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pic>
        <p:nvPicPr>
          <p:cNvPr descr="C:\Users\Steven\Documents\str\ExploringScienceNight\thumbnails\3DMirascope.png" id="2050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3729281" y="1562354"/>
            <a:ext cx="5616903" cy="1628902"/>
          </a:xfrm>
          <a:prstGeom prst="rect">
            <a:avLst/>
          </a:prstGeom>
          <a:noFill/>
        </p:spPr>
      </p:pic>
      <p:pic>
        <p:nvPicPr>
          <p:cNvPr descr="C:\Users\Steven\Documents\str\ExploringScienceNight\thumbnails\3DMirascope_step1.png" id="2051" name="Picture 3"/>
          <p:cNvPicPr>
            <a:picLocks noChangeArrowheads="1" noChangeAspect="1"/>
          </p:cNvPicPr>
          <p:nvPr/>
        </p:nvPicPr>
        <p:blipFill>
          <a:blip cstate="print" r:embed="rId3"/>
          <a:srcRect/>
          <a:stretch>
            <a:fillRect/>
          </a:stretch>
        </p:blipFill>
        <p:spPr>
          <a:xfrm>
            <a:off x="6338668" y="4251451"/>
            <a:ext cx="5566820" cy="144737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76656" y="1600200"/>
            <a:ext cx="5522976" cy="1477328"/>
          </a:xfrm>
          <a:prstGeom prst="rect">
            <a:avLst/>
          </a:prstGeom>
          <a:noFill/>
        </p:spPr>
        <p:txBody>
          <a:bodyPr numCol="1" rtlCol="0" wrap="square">
            <a:spAutoFit/>
          </a:bodyPr>
          <a:lstStyle/>
          <a:p>
            <a:r>
              <a:rPr dirty="0" lang="en-US" smtClean="0"/>
              <a:t>Parts:</a:t>
            </a:r>
          </a:p>
          <a:p>
            <a:pPr>
              <a:buFont charset="0" pitchFamily="34" typeface="Arial"/>
              <a:buChar char="•"/>
            </a:pPr>
            <a:r>
              <a:rPr dirty="0" lang="en-US" smtClean="0"/>
              <a:t> base</a:t>
            </a:r>
          </a:p>
          <a:p>
            <a:pPr>
              <a:buFont charset="0" pitchFamily="34" typeface="Arial"/>
              <a:buChar char="•"/>
            </a:pPr>
            <a:r>
              <a:rPr dirty="0" lang="en-US" smtClean="0"/>
              <a:t> frog</a:t>
            </a:r>
          </a:p>
          <a:p>
            <a:pPr>
              <a:buFont charset="0" pitchFamily="34" typeface="Arial"/>
              <a:buChar char="•"/>
            </a:pPr>
            <a:r>
              <a:rPr dirty="0" lang="en-US" smtClean="0"/>
              <a:t> solid parabolic mirror</a:t>
            </a:r>
          </a:p>
          <a:p>
            <a:pPr>
              <a:buFont charset="0" pitchFamily="34" typeface="Arial"/>
              <a:buChar char="•"/>
            </a:pPr>
            <a:r>
              <a:rPr dirty="0" lang="en-US" smtClean="0"/>
              <a:t> parabolic mirror with hole</a:t>
            </a:r>
            <a:endParaRPr dirty="0" lang="en-US"/>
          </a:p>
        </p:txBody>
      </p:sp>
      <p:sp>
        <p:nvSpPr>
          <p:cNvPr id="9" name="TextBox 8"/>
          <p:cNvSpPr txBox="1"/>
          <p:nvPr/>
        </p:nvSpPr>
        <p:spPr>
          <a:xfrm>
            <a:off x="582168" y="3938016"/>
            <a:ext cx="5522976" cy="2585323"/>
          </a:xfrm>
          <a:prstGeom prst="rect">
            <a:avLst/>
          </a:prstGeom>
          <a:noFill/>
        </p:spPr>
        <p:txBody>
          <a:bodyPr numCol="1" rtlCol="0" wrap="square">
            <a:spAutoFit/>
          </a:bodyPr>
          <a:lstStyle/>
          <a:p>
            <a:pPr indent="-342900" marL="342900"/>
            <a:r>
              <a:rPr dirty="0" lang="en-US" smtClean="0"/>
              <a:t>Instructions:</a:t>
            </a:r>
          </a:p>
          <a:p>
            <a:pPr indent="-342900" marL="342900">
              <a:buAutoNum type="arabicPeriod"/>
            </a:pPr>
            <a:r>
              <a:rPr dirty="0" lang="en-US" smtClean="0"/>
              <a:t>Put base so solid side faces up</a:t>
            </a:r>
          </a:p>
          <a:p>
            <a:pPr indent="-342900" marL="342900">
              <a:buAutoNum type="arabicPeriod"/>
            </a:pPr>
            <a:r>
              <a:rPr dirty="0" lang="en-US" smtClean="0"/>
              <a:t>Place solid parabolic mirror on base, with mirror facing up</a:t>
            </a:r>
          </a:p>
          <a:p>
            <a:pPr indent="-342900" marL="342900">
              <a:buAutoNum type="arabicPeriod"/>
            </a:pPr>
            <a:r>
              <a:rPr dirty="0" lang="en-US" smtClean="0"/>
              <a:t>Place frog (or other object) in middle of solid parabolic mirror</a:t>
            </a:r>
          </a:p>
          <a:p>
            <a:pPr indent="-342900" marL="342900">
              <a:buAutoNum type="arabicPeriod"/>
            </a:pPr>
            <a:r>
              <a:rPr dirty="0" lang="en-US" smtClean="0"/>
              <a:t>Place parabolic mirror with hole upside down on top of solid mirror, with the mirror facing down (so it looks like a UFO)</a:t>
            </a:r>
          </a:p>
        </p:txBody>
      </p:sp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err="1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MagLev</a:t>
            </a:r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 Train - Setup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10515600" cy="3543491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300"/>
              <a:t>Connect the 2 tracks together</a:t>
            </a:r>
          </a:p>
          <a:p>
            <a:pPr indent="-742950" marL="742950"/>
            <a:r>
              <a:rPr dirty="0" lang="en-US" smtClean="0" sz="4300"/>
              <a:t>Train floats on top of track</a:t>
            </a:r>
          </a:p>
          <a:p>
            <a:pPr indent="-742950" marL="742950"/>
            <a:r>
              <a:rPr dirty="0" lang="en-US" smtClean="0" sz="4000"/>
              <a:t>Move a separate magnet along track to move train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MaglevTrain_600.png" id="3079" name="Picture 7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563049" y="4542789"/>
            <a:ext cx="11086407" cy="20325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err="1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MagLev</a:t>
            </a:r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 Train - Details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10515600" cy="4873753"/>
          </a:xfrm>
        </p:spPr>
        <p:txBody>
          <a:bodyPr numCol="1">
            <a:normAutofit fontScale="77500" lnSpcReduction="20000"/>
          </a:bodyPr>
          <a:lstStyle/>
          <a:p>
            <a:pPr indent="-742950" marL="742950"/>
            <a:r>
              <a:rPr dirty="0" lang="en-US" smtClean="0" sz="4300"/>
              <a:t>Short for Magnetic Levitation</a:t>
            </a:r>
          </a:p>
          <a:p>
            <a:pPr indent="-742950" marL="742950"/>
            <a:r>
              <a:rPr dirty="0" lang="en-US" smtClean="0" sz="4300"/>
              <a:t>Levitation – process by which an object hovers in the air</a:t>
            </a:r>
          </a:p>
          <a:p>
            <a:pPr indent="-742950" marL="742950"/>
            <a:r>
              <a:rPr dirty="0" lang="en-US" smtClean="0" sz="4300"/>
              <a:t>All magnets have 2 poles: north and south</a:t>
            </a:r>
          </a:p>
          <a:p>
            <a:pPr indent="-742950" marL="742950"/>
            <a:r>
              <a:rPr dirty="0" lang="en-US" smtClean="0" sz="4300"/>
              <a:t>Opposite poles attract and like poles repel (push away)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North + South attract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North + North repel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South + South repel</a:t>
            </a:r>
          </a:p>
          <a:p>
            <a:pPr indent="-742950" marL="742950"/>
            <a:r>
              <a:rPr dirty="0" lang="en-US" smtClean="0" sz="4300"/>
              <a:t>Strip magnets: north on one flat side and south on the other flat side</a:t>
            </a:r>
          </a:p>
          <a:p>
            <a:pPr indent="-742950" marL="742950"/>
            <a:r>
              <a:rPr dirty="0" lang="en-US" smtClean="0" sz="4300"/>
              <a:t>Magnets on track and under train are arranged so that like poles are </a:t>
            </a:r>
            <a:r>
              <a:rPr dirty="0" err="1" lang="en-US" smtClean="0" sz="4300"/>
              <a:t>faicing</a:t>
            </a:r>
            <a:r>
              <a:rPr dirty="0" lang="en-US" smtClean="0" sz="4300"/>
              <a:t> each other, and thus repel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MaglevTrain_600.png" id="4" name="Picture 7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6524654" y="3610101"/>
            <a:ext cx="5246722" cy="9618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err="1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MagLev</a:t>
            </a:r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 Train - Facts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10515600" cy="4873753"/>
          </a:xfrm>
        </p:spPr>
        <p:txBody>
          <a:bodyPr numCol="1">
            <a:normAutofit fontScale="85000" lnSpcReduction="20000"/>
          </a:bodyPr>
          <a:lstStyle/>
          <a:p>
            <a:pPr indent="-742950" marL="742950"/>
            <a:r>
              <a:rPr dirty="0" lang="en-US" smtClean="0" sz="4300"/>
              <a:t>No friction between train and track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Little or no noise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Very efficient (saves energy)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Can be super fast</a:t>
            </a:r>
          </a:p>
          <a:p>
            <a:pPr indent="-742950" marL="742950"/>
            <a:r>
              <a:rPr dirty="0" lang="en-US" smtClean="0" sz="4300"/>
              <a:t>Most maglev railways use electromagnets instead of permanent magnets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Electromagnet – Made by sending electricity thru a coil of wire. Can be turned on &amp; off by turning electricity on &amp; off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900"/>
              <a:t>Turning magnets on/off along the track moves the train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MaglevTrain_600.png" id="4" name="Picture 7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6419088" y="2183637"/>
            <a:ext cx="5626608" cy="10315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Energy Stick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589264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lang="en-US" smtClean="0" sz="3600"/>
              <a:t>Put one hand on each end of the Energy Stick</a:t>
            </a:r>
          </a:p>
          <a:p>
            <a:pPr indent="-742950" marL="742950"/>
            <a:r>
              <a:rPr dirty="0" lang="en-US" smtClean="0" sz="3600"/>
              <a:t>Energy Stick sends out an electrical signal that powers the flashing lights and buzzer when your body completes the circuit</a:t>
            </a:r>
          </a:p>
          <a:p>
            <a:pPr indent="-742950" marL="742950"/>
            <a:r>
              <a:rPr dirty="0" lang="en-US" smtClean="0" sz="3600"/>
              <a:t>Electricity travels safely on your skin</a:t>
            </a:r>
          </a:p>
          <a:p>
            <a:pPr indent="-742950" marL="742950"/>
            <a:r>
              <a:rPr dirty="0" lang="en-US" smtClean="0" sz="3600"/>
              <a:t>Multiple people can hold hands and complete the circuit</a:t>
            </a:r>
            <a:endParaRPr dirty="0" lang="en-US" sz="3600"/>
          </a:p>
        </p:txBody>
      </p:sp>
      <p:pic>
        <p:nvPicPr>
          <p:cNvPr descr="C:\Users\Steven\Documents\str\ExploringScienceNight\thumbnails\EnergyStick_vert.png" id="4100" name="Picture 4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10252456" y="274320"/>
            <a:ext cx="1420650" cy="6449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The Levitator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144512" cy="4873753"/>
          </a:xfrm>
        </p:spPr>
        <p:txBody>
          <a:bodyPr numCol="1">
            <a:normAutofit fontScale="92500"/>
          </a:bodyPr>
          <a:lstStyle/>
          <a:p>
            <a:pPr indent="-742950" marL="742950"/>
            <a:r>
              <a:rPr dirty="0" lang="en-US" smtClean="0" sz="3900"/>
              <a:t>Place clear plastic shield vertically in end of base with “v” shaped end sticking up</a:t>
            </a:r>
          </a:p>
          <a:p>
            <a:pPr indent="-742950" marL="742950"/>
            <a:r>
              <a:rPr dirty="0" lang="en-US" smtClean="0" sz="3900"/>
              <a:t>Position spindle (barbell-shaped piece) on the stand with metal pointed end toward glass</a:t>
            </a:r>
          </a:p>
          <a:p>
            <a:pPr indent="-742950" marL="742950"/>
            <a:r>
              <a:rPr dirty="0" lang="en-US" smtClean="0" sz="3900"/>
              <a:t>Spin the spindle – the two opposing magnetic forces keep it rotating in mid-air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Levitator.png" id="5126" name="Picture 6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7481389" y="1321689"/>
            <a:ext cx="4710611" cy="24730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Hand Boiler - Info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177784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err="1" lang="en-US" smtClean="0" sz="3900"/>
              <a:t>Graps</a:t>
            </a:r>
            <a:r>
              <a:rPr dirty="0" lang="en-US" smtClean="0" sz="3900"/>
              <a:t> the larger bulb on bottom with your hand</a:t>
            </a:r>
          </a:p>
          <a:p>
            <a:pPr indent="-742950" marL="742950"/>
            <a:r>
              <a:rPr dirty="0" lang="en-US" smtClean="0" sz="3900"/>
              <a:t>Your body heat causes the liquid to rise and boil</a:t>
            </a:r>
          </a:p>
          <a:p>
            <a:pPr indent="-742950" marL="742950"/>
            <a:r>
              <a:rPr dirty="0" lang="en-US" smtClean="0" sz="3900"/>
              <a:t>Charles’s Law – A volume of gas at a constant pressure expands as the temperature increases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HandBoiler.png" id="6147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493504" y="701801"/>
            <a:ext cx="2155952" cy="56270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65125"/>
            <a:ext cx="11393424" cy="1325563"/>
          </a:xfrm>
        </p:spPr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Hand Boiler - Explanation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10792968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3600"/>
              <a:t>Heat from your hand causes some of the liquid in the bottom bulb to heat up and evaporate into a gas.</a:t>
            </a:r>
          </a:p>
          <a:p>
            <a:pPr indent="-742950" marL="742950"/>
            <a:r>
              <a:rPr dirty="0" lang="en-US" smtClean="0" sz="3600"/>
              <a:t>As this gas expands, it causes the liquid to flow up to the top bulb, where it appears to bubble and boil.</a:t>
            </a:r>
          </a:p>
          <a:p>
            <a:pPr indent="-742950" marL="742950"/>
            <a:r>
              <a:rPr dirty="0" lang="en-US" smtClean="0" sz="3600"/>
              <a:t>When you release your hand, the gas condenses back into a liquid and flows down into the bottom bulb.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7200">
                <a:latin charset="-79" panose="02010803020104030203" pitchFamily="2" typeface="Aharoni"/>
                <a:cs charset="-79" panose="02010803020104030203" pitchFamily="2" typeface="Aharoni"/>
              </a:rPr>
              <a:t>Magnetic Hourglass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177784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3900"/>
              <a:t>Iron fillings in a glass timer react with a magnetic base</a:t>
            </a:r>
          </a:p>
          <a:p>
            <a:pPr indent="-742950" marL="742950"/>
            <a:r>
              <a:rPr dirty="0" lang="en-US" smtClean="0" sz="3900"/>
              <a:t>Produce gravity-defying artist displays</a:t>
            </a:r>
          </a:p>
          <a:p>
            <a:pPr indent="-742950" marL="742950"/>
            <a:r>
              <a:rPr dirty="0" lang="en-US" smtClean="0" sz="3900"/>
              <a:t>20-second timer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MagneticHourglass.png" id="7171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036304" y="1388998"/>
            <a:ext cx="2421128" cy="50238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Zero Gravity Fridge Rover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546848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3900"/>
              <a:t>Wind up rover and let it move along magnetic board, defying gravity</a:t>
            </a:r>
          </a:p>
          <a:p>
            <a:pPr indent="-742950" marL="742950"/>
            <a:r>
              <a:rPr dirty="0" lang="en-US" smtClean="0" sz="3600"/>
              <a:t>Combines a magnet and a wind-up vehicle</a:t>
            </a:r>
          </a:p>
          <a:p>
            <a:pPr indent="-742950" marL="742950"/>
            <a:r>
              <a:rPr dirty="0" lang="en-US" smtClean="0" sz="3600"/>
              <a:t>Gravity attracts objects toward each other, but magnetism can attract OR repel</a:t>
            </a:r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ZeroGravityFridgeRover.png" id="8194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7929880" y="1380743"/>
            <a:ext cx="4048760" cy="43726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Zero Gravity Fridge Rover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10527792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lang="en-US" smtClean="0" sz="4000"/>
              <a:t>Coiled spring inside clockwork mechanism winds up tightly as you turn the crank, storing energy in the spring</a:t>
            </a:r>
          </a:p>
          <a:p>
            <a:pPr indent="-742950" marL="742950"/>
            <a:r>
              <a:rPr dirty="0" lang="en-US" smtClean="0" sz="4000"/>
              <a:t>When you let go, the spring uncoils, releasing the stored energy and turning the wheels</a:t>
            </a:r>
          </a:p>
          <a:p>
            <a:pPr indent="-742950" marL="742950"/>
            <a:r>
              <a:rPr dirty="0" lang="en-US" smtClean="0" sz="4000"/>
              <a:t>The magnet inside the rover holds it firmly against the fridge / magnetic board</a:t>
            </a:r>
          </a:p>
          <a:p>
            <a:pPr indent="-742950" marL="742950"/>
            <a:r>
              <a:rPr dirty="0" lang="en-US" smtClean="0" sz="4000"/>
              <a:t>Fridges are magnetic because they are made of steel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Plasma Ball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9183624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Contains a gaseous mixture</a:t>
            </a:r>
          </a:p>
          <a:p>
            <a:pPr indent="-742950" marL="742950"/>
            <a:r>
              <a:rPr dirty="0" lang="en-US" smtClean="0" sz="4000"/>
              <a:t>The base produces high frequency electro-magnetic waves that cause the gases to turn into plasma</a:t>
            </a:r>
          </a:p>
          <a:p>
            <a:pPr indent="-742950" marL="742950"/>
            <a:r>
              <a:rPr dirty="0" lang="en-US" smtClean="0" sz="4000"/>
              <a:t>Plasma = an ionized gas</a:t>
            </a:r>
          </a:p>
          <a:p>
            <a:pPr indent="-742950" marL="742950"/>
            <a:r>
              <a:rPr dirty="0" lang="en-US" smtClean="0" sz="4000"/>
              <a:t>The ions produced emit some energy in the visible region and appear as colored “streamers” 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lasmaBall_on.png" id="9218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548368" y="287400"/>
            <a:ext cx="2476816" cy="34799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Plasma Ball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9183624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Responds to your touch</a:t>
            </a:r>
          </a:p>
          <a:p>
            <a:pPr indent="-742950" marL="742950"/>
            <a:r>
              <a:rPr dirty="0" lang="en-US" smtClean="0" sz="4000"/>
              <a:t>Plasma is attracted to your hand as it nears and touches the ball</a:t>
            </a:r>
          </a:p>
          <a:p>
            <a:pPr indent="-742950" marL="742950"/>
            <a:r>
              <a:rPr dirty="0" lang="en-US" smtClean="0" sz="4000"/>
              <a:t>You may feel a slight tingle sensation, which is caused by the vibrations on the glass ball as the electrons strike the surface of the ball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lasmaBall_on.png" id="9218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548368" y="287400"/>
            <a:ext cx="2476816" cy="34799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Plasma Ball - Usage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9183624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3 settings to switch: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600"/>
              <a:t>Off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600"/>
              <a:t>Audio – responds to music or voice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600"/>
              <a:t>On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lasmaBall_on.png" id="9218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548368" y="287400"/>
            <a:ext cx="2476816" cy="34799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Boomerang Wheel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107936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3600"/>
              <a:t>Push it away and it comes back!</a:t>
            </a:r>
          </a:p>
          <a:p>
            <a:pPr indent="-742950" marL="742950"/>
            <a:r>
              <a:rPr dirty="0" lang="en-US" smtClean="0" sz="3600"/>
              <a:t>Conserves energy by converting potential energy into motion</a:t>
            </a:r>
          </a:p>
          <a:p>
            <a:pPr indent="-742950" marL="742950"/>
            <a:r>
              <a:rPr dirty="0" lang="en-US" smtClean="0" sz="3600"/>
              <a:t>Law of Conservation of Energy says energy cannot be created or destroyed. It can only be transformed from one form of energy to another.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boomerang_angle.png" id="1027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7451032" y="1710181"/>
            <a:ext cx="4494080" cy="2651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Boomerang Wheel – How it Works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107936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lang="en-US" smtClean="0" sz="3600"/>
              <a:t>Inside is a nut suspended by a rubber band that stretches across the wheel and loops thru holes in both ends of the wheel.</a:t>
            </a:r>
          </a:p>
          <a:p>
            <a:pPr indent="-742950" marL="742950"/>
            <a:r>
              <a:rPr dirty="0" lang="en-US" smtClean="0" sz="3600"/>
              <a:t>When you roll the wheel, the weight of the nut causes the rubber band to wind up.</a:t>
            </a:r>
          </a:p>
          <a:p>
            <a:pPr indent="-742950" marL="742950"/>
            <a:r>
              <a:rPr dirty="0" lang="en-US" smtClean="0" sz="3600"/>
              <a:t>When done rolling, the rubber band automatically unwinds, rolling the wheel backwards.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boomerangWheel_open.png" id="2050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7332472" y="1590294"/>
            <a:ext cx="4451096" cy="33383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Volcano – Baking Soda &amp; Vinegar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9933432" cy="4864609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In test tube or cup, combine baking soda and vinegar</a:t>
            </a:r>
          </a:p>
          <a:p>
            <a:pPr indent="-742950" marL="742950"/>
            <a:r>
              <a:rPr dirty="0" lang="en-US" smtClean="0" sz="4000"/>
              <a:t>Results in immediate bubbling, which is gases created from reaction</a:t>
            </a:r>
          </a:p>
          <a:p>
            <a:pPr indent="-742950" marL="742950"/>
            <a:r>
              <a:rPr dirty="0" lang="en-US" smtClean="0" sz="4000"/>
              <a:t>If lid on test tube or in closed bag, bag will inflate from pressure created by gas</a:t>
            </a:r>
          </a:p>
          <a:p>
            <a:pPr indent="-742950" marL="742950"/>
            <a:r>
              <a:rPr dirty="0" lang="en-US" smtClean="0" sz="4000"/>
              <a:t>Reaction occurs because baking soda is a “base” and vinegar is an “acid.”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bakingSoda.png" id="4098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10030968" y="1410843"/>
            <a:ext cx="1637792" cy="2186452"/>
          </a:xfrm>
          <a:prstGeom prst="rect">
            <a:avLst/>
          </a:prstGeom>
          <a:noFill/>
        </p:spPr>
      </p:pic>
      <p:pic>
        <p:nvPicPr>
          <p:cNvPr descr="C:\Users\Steven\Documents\str\ExploringScienceNight\thumbnails\vinegar.png" id="4099" name="Picture 3"/>
          <p:cNvPicPr>
            <a:picLocks noChangeArrowheads="1" noChangeAspect="1"/>
          </p:cNvPicPr>
          <p:nvPr/>
        </p:nvPicPr>
        <p:blipFill>
          <a:blip cstate="print" r:embed="rId3"/>
          <a:srcRect/>
          <a:stretch>
            <a:fillRect/>
          </a:stretch>
        </p:blipFill>
        <p:spPr>
          <a:xfrm>
            <a:off x="10076688" y="3825113"/>
            <a:ext cx="1564640" cy="30119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Hard Warmer: Calcium Chloride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214360" cy="4873753"/>
          </a:xfrm>
        </p:spPr>
        <p:txBody>
          <a:bodyPr numCol="1">
            <a:normAutofit fontScale="92500" lnSpcReduction="20000"/>
          </a:bodyPr>
          <a:lstStyle/>
          <a:p>
            <a:pPr indent="-742950" marL="742950"/>
            <a:r>
              <a:rPr dirty="0" lang="en-US" smtClean="0" sz="4000"/>
              <a:t>In test tube, cup or plastic bag, combine calcium chloride flakes and water</a:t>
            </a:r>
          </a:p>
          <a:p>
            <a:pPr indent="-742950" marL="742950"/>
            <a:r>
              <a:rPr dirty="0" lang="en-US" smtClean="0" sz="4000"/>
              <a:t>Resulting chemical reaction </a:t>
            </a:r>
            <a:r>
              <a:rPr dirty="0" err="1" lang="en-US" smtClean="0" sz="4000"/>
              <a:t>geneates</a:t>
            </a:r>
            <a:r>
              <a:rPr dirty="0" lang="en-US" smtClean="0" sz="4000"/>
              <a:t> heat and bubbling of gases created from reaction</a:t>
            </a:r>
          </a:p>
          <a:p>
            <a:pPr indent="-742950" marL="742950"/>
            <a:r>
              <a:rPr dirty="0" lang="en-US" smtClean="0" sz="4000"/>
              <a:t>Use thermometer to show that temperature rises</a:t>
            </a:r>
          </a:p>
          <a:p>
            <a:pPr indent="-742950" marL="742950"/>
            <a:r>
              <a:rPr dirty="0" lang="en-US" smtClean="0" sz="4000"/>
              <a:t>Do experiment in closed bag to feel heat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calciumChloride.png" id="5122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871712" y="1509140"/>
            <a:ext cx="2933192" cy="41797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Hard Warmer: Calcium Chloride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1627631"/>
            <a:ext cx="10216896" cy="4873753"/>
          </a:xfrm>
        </p:spPr>
        <p:txBody>
          <a:bodyPr numCol="1">
            <a:normAutofit fontScale="92500" lnSpcReduction="10000"/>
          </a:bodyPr>
          <a:lstStyle/>
          <a:p>
            <a:pPr indent="-742950" marL="742950"/>
            <a:r>
              <a:rPr dirty="0" lang="en-US" smtClean="0" sz="3600"/>
              <a:t>Hygroscopic – Absorbs water and then dissolves into it</a:t>
            </a:r>
          </a:p>
          <a:p>
            <a:pPr indent="-742950" marL="742950"/>
            <a:r>
              <a:rPr dirty="0" lang="en-US" smtClean="0" sz="3600"/>
              <a:t>Used in hand warmers and as “road salt” to melt ice</a:t>
            </a:r>
          </a:p>
          <a:p>
            <a:pPr indent="-742950" marL="742950"/>
            <a:r>
              <a:rPr dirty="0" lang="en-US" smtClean="0" sz="3600"/>
              <a:t>Similar to sodium chloride (table salt), but uses calcium instead of sodium. Extremely salty taste.</a:t>
            </a:r>
          </a:p>
          <a:p>
            <a:pPr indent="-742950" marL="742950"/>
            <a:r>
              <a:rPr dirty="0" lang="en-US" smtClean="0" sz="3600"/>
              <a:t>Also Used in Food: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200"/>
              <a:t>Firming agent to help soft foods maintain their shape: canned fruits, vegetables and tofu</a:t>
            </a:r>
          </a:p>
          <a:p>
            <a:pPr indent="-742950" lvl="1" marL="1200150">
              <a:buFont charset="2" pitchFamily="2" typeface="Wingdings"/>
              <a:buChar char="Ø"/>
            </a:pPr>
            <a:r>
              <a:rPr dirty="0" lang="en-US" smtClean="0" sz="3200"/>
              <a:t>Electrolytes in sports drinks</a:t>
            </a:r>
          </a:p>
          <a:p>
            <a:pPr indent="-742950" lvl="2" marL="1657350"/>
            <a:r>
              <a:rPr dirty="0" lang="en-US" smtClean="0" sz="2800"/>
              <a:t>Electrolytes are ions that conduct electrical activity and help your body maintain fluid balance as well as proper muscle and nerve functions</a:t>
            </a:r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calciumChloride.png" id="4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10123637" y="2167509"/>
            <a:ext cx="1931203" cy="27519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err="1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Bromothymol</a:t>
            </a:r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 Blue (BTB)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9595104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lang="en-US" smtClean="0" sz="4000"/>
              <a:t>Pour a small amount of BTB in cup</a:t>
            </a:r>
          </a:p>
          <a:p>
            <a:pPr indent="-742950" marL="742950"/>
            <a:r>
              <a:rPr dirty="0" lang="en-US" smtClean="0" sz="4000"/>
              <a:t>Blow into cup via straw for 1-2 minutes</a:t>
            </a:r>
          </a:p>
          <a:p>
            <a:pPr indent="-742950" marL="742950"/>
            <a:r>
              <a:rPr dirty="0" lang="en-US" smtClean="0" sz="4000"/>
              <a:t>Liquid turns yellow from the carbon dioxide from your breath</a:t>
            </a:r>
          </a:p>
          <a:p>
            <a:pPr indent="-742950" marL="742950"/>
            <a:r>
              <a:rPr dirty="0" lang="en-US" smtClean="0" sz="4000"/>
              <a:t>Put on lid and shake, open lid to let in air, close lid and shake again. Solution is back to blue/green.</a:t>
            </a:r>
          </a:p>
          <a:p>
            <a:pPr indent="-742950" marL="742950"/>
            <a:r>
              <a:rPr dirty="0" lang="en-US" smtClean="0" sz="4000"/>
              <a:t>Experiment can be repeated.</a:t>
            </a:r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40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bromothymolBlue.png" id="6146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838944" y="212725"/>
            <a:ext cx="2113280" cy="53782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err="1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Bromothymol</a:t>
            </a:r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 Blue (BTB)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214360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err="1" lang="en-US" smtClean="0" sz="4000"/>
              <a:t>Bromothymol</a:t>
            </a:r>
            <a:r>
              <a:rPr dirty="0" lang="en-US" smtClean="0" sz="4000"/>
              <a:t> </a:t>
            </a:r>
            <a:r>
              <a:rPr dirty="0" err="1" lang="en-US" smtClean="0" sz="4000"/>
              <a:t>Sulfone</a:t>
            </a:r>
            <a:r>
              <a:rPr dirty="0" lang="en-US" smtClean="0" sz="4000"/>
              <a:t> </a:t>
            </a:r>
            <a:r>
              <a:rPr dirty="0" err="1" lang="en-US" smtClean="0" sz="4000"/>
              <a:t>Phthalein</a:t>
            </a:r>
            <a:endParaRPr dirty="0" lang="en-US" smtClean="0" sz="4000"/>
          </a:p>
          <a:p>
            <a:pPr indent="-742950" marL="742950"/>
            <a:r>
              <a:rPr dirty="0" lang="en-US" smtClean="0" sz="4000"/>
              <a:t>pH sensitive dye used in many laboratory reactions</a:t>
            </a:r>
          </a:p>
          <a:p>
            <a:pPr indent="-742950" marL="742950"/>
            <a:r>
              <a:rPr dirty="0" lang="en-US" smtClean="0" sz="4000"/>
              <a:t>A weak acid used as an indicator to determine pH (level of acidity)</a:t>
            </a:r>
          </a:p>
          <a:p>
            <a:pPr indent="-742950" marL="742950"/>
            <a:r>
              <a:rPr dirty="0" lang="en-US" smtClean="0" sz="3600"/>
              <a:t>Yellow – acidic</a:t>
            </a:r>
          </a:p>
          <a:p>
            <a:pPr indent="-742950" marL="742950"/>
            <a:r>
              <a:rPr dirty="0" lang="en-US" smtClean="0" sz="3600"/>
              <a:t>Blue – base</a:t>
            </a:r>
          </a:p>
          <a:p>
            <a:pPr indent="-742950" marL="742950"/>
            <a:r>
              <a:rPr dirty="0" lang="en-US" smtClean="0" sz="3600"/>
              <a:t>Green – neutral</a:t>
            </a:r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bromothymolBlue.png" id="4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9838944" y="212725"/>
            <a:ext cx="2113280" cy="53782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Hovercraft - Build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693152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Take CD, DVD or even a record</a:t>
            </a:r>
          </a:p>
          <a:p>
            <a:pPr indent="-742950" marL="742950"/>
            <a:r>
              <a:rPr dirty="0" lang="en-US" smtClean="0" sz="4000"/>
              <a:t>Attach sports bottle cap over hole using a hot glue gun</a:t>
            </a:r>
          </a:p>
          <a:p>
            <a:pPr indent="-742950" marL="742950"/>
            <a:r>
              <a:rPr dirty="0" lang="en-US" smtClean="0" sz="3600"/>
              <a:t>Place balloon on top of bottle cap</a:t>
            </a:r>
          </a:p>
          <a:p>
            <a:pPr indent="-742950" marL="742950"/>
            <a:r>
              <a:rPr dirty="0" lang="en-US" smtClean="0" sz="3600"/>
              <a:t>Glue balloon if necessary, but should work without gluing</a:t>
            </a:r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hovercraft.png" id="7170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039608" y="861060"/>
            <a:ext cx="3856736" cy="25454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Hovercraft - Operate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930896" cy="4873753"/>
          </a:xfrm>
        </p:spPr>
        <p:txBody>
          <a:bodyPr numCol="1">
            <a:normAutofit lnSpcReduction="10000"/>
          </a:bodyPr>
          <a:lstStyle/>
          <a:p>
            <a:pPr indent="-742950" marL="742950"/>
            <a:r>
              <a:rPr dirty="0" lang="en-US" smtClean="0" sz="4000"/>
              <a:t>From bottom of hovercraft, inflate balloon by either blowing into it or using a pump</a:t>
            </a:r>
          </a:p>
          <a:p>
            <a:pPr indent="-742950" marL="742950"/>
            <a:r>
              <a:rPr dirty="0" lang="en-US" smtClean="0" sz="3600"/>
              <a:t>Quickly place on table</a:t>
            </a:r>
          </a:p>
          <a:p>
            <a:pPr indent="-742950" marL="742950"/>
            <a:r>
              <a:rPr dirty="0" lang="en-US" smtClean="0" sz="3600"/>
              <a:t>As air rushes down out of balloon, the CD hovers and floats on top of the table</a:t>
            </a:r>
          </a:p>
          <a:p>
            <a:pPr indent="-742950" marL="742950"/>
            <a:r>
              <a:rPr dirty="0" lang="en-US" smtClean="0" sz="3600"/>
              <a:t>Cushion of air enables frictionless movement</a:t>
            </a:r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hovercraft_top.png" id="8195" name="Picture 3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277352" y="307594"/>
            <a:ext cx="3530600" cy="34246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Prism – Refraction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930896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Refraction </a:t>
            </a:r>
            <a:r>
              <a:rPr dirty="0" lang="en-US" smtClean="0" sz="4000"/>
              <a:t>= </a:t>
            </a:r>
            <a:r>
              <a:rPr dirty="0" lang="en-US" smtClean="0" sz="4000"/>
              <a:t>Bending of light </a:t>
            </a:r>
            <a:endParaRPr dirty="0" lang="en-US" smtClean="0" sz="4000"/>
          </a:p>
          <a:p>
            <a:pPr indent="-742950" marL="742950"/>
            <a:r>
              <a:rPr dirty="0" lang="en-US" smtClean="0" sz="4000"/>
              <a:t>As </a:t>
            </a:r>
            <a:r>
              <a:rPr dirty="0" lang="en-US" smtClean="0" sz="4000"/>
              <a:t>white light travels from the air to the prism, the light slows down as it enters the prism.</a:t>
            </a:r>
            <a:endParaRPr dirty="0" lang="en-US" smtClean="0" sz="4000"/>
          </a:p>
          <a:p>
            <a:pPr indent="-742950" marL="742950"/>
            <a:r>
              <a:rPr dirty="0" lang="en-US" smtClean="0" sz="3600"/>
              <a:t>If it enters the prism as an angle, this slowing makes it change direction as well as speed.</a:t>
            </a:r>
          </a:p>
          <a:p>
            <a:pPr indent="-742950" marL="742950"/>
            <a:r>
              <a:rPr dirty="0" lang="en-US" smtClean="0" sz="3600"/>
              <a:t>Rainbow = Raindrops act like a prism</a:t>
            </a:r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rism.png" id="1026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451088" y="202052"/>
            <a:ext cx="3509264" cy="34039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Prism – Wavelength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8397240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3600"/>
              <a:t>Bending is determined by wavelength and angle the light hits the surface of the prism.</a:t>
            </a:r>
          </a:p>
          <a:p>
            <a:pPr indent="-742950" marL="742950"/>
            <a:r>
              <a:rPr dirty="0" lang="en-US" smtClean="0" sz="3600"/>
              <a:t>Each color has a slightly different wavelength, so the colors are bent at different angles. </a:t>
            </a:r>
          </a:p>
          <a:p>
            <a:pPr indent="-742950" marL="742950"/>
            <a:r>
              <a:rPr dirty="0" lang="en-US" smtClean="0" sz="3600"/>
              <a:t>Red = Longer wavelength. Bends less.</a:t>
            </a:r>
          </a:p>
          <a:p>
            <a:pPr indent="-742950" marL="742950"/>
            <a:r>
              <a:rPr dirty="0" lang="en-US" smtClean="0" sz="3600"/>
              <a:t>Blue = Shorter wavelength. Bends more.</a:t>
            </a:r>
          </a:p>
          <a:p>
            <a:pPr indent="-742950" marL="742950">
              <a:buNone/>
            </a:pPr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rism.png" id="1026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451088" y="202052"/>
            <a:ext cx="3509264" cy="34039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b="1" dirty="0" lang="en-US" smtClean="0" sz="5400">
                <a:latin charset="-79" panose="02010803020104030203" pitchFamily="2" typeface="Aharoni"/>
                <a:cs charset="-79" panose="02010803020104030203" pitchFamily="2" typeface="Aharoni"/>
              </a:rPr>
              <a:t>Prism – Operate</a:t>
            </a:r>
            <a:endParaRPr b="1" dirty="0" lang="en-US" sz="5400">
              <a:latin charset="-79" panose="02010803020104030203" pitchFamily="2" typeface="Aharoni"/>
              <a:cs charset="-79" panose="02010803020104030203" pitchFamily="2" typeface="Aharon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24" y="1618487"/>
            <a:ext cx="7930896" cy="4873753"/>
          </a:xfrm>
        </p:spPr>
        <p:txBody>
          <a:bodyPr numCol="1">
            <a:normAutofit/>
          </a:bodyPr>
          <a:lstStyle/>
          <a:p>
            <a:pPr indent="-742950" marL="742950"/>
            <a:r>
              <a:rPr dirty="0" lang="en-US" smtClean="0" sz="4000"/>
              <a:t>Place prism in bag</a:t>
            </a:r>
          </a:p>
          <a:p>
            <a:pPr indent="-742950" marL="742950"/>
            <a:r>
              <a:rPr dirty="0" lang="en-US" smtClean="0" sz="4000"/>
              <a:t>Shine light thru prism</a:t>
            </a:r>
          </a:p>
          <a:p>
            <a:pPr indent="-742950" marL="742950"/>
            <a:r>
              <a:rPr dirty="0" lang="en-US" smtClean="0" sz="4000"/>
              <a:t>Thin rainbow will appear in back of bag</a:t>
            </a:r>
          </a:p>
          <a:p>
            <a:pPr indent="-742950" marL="742950"/>
            <a:r>
              <a:rPr dirty="0" lang="en-US" smtClean="0" sz="4000"/>
              <a:t>LED and fluorescent lights do not work since they are not “white” light, </a:t>
            </a:r>
            <a:r>
              <a:rPr lang="en-US" smtClean="0" sz="4000"/>
              <a:t>like sunlight</a:t>
            </a:r>
            <a:endParaRPr dirty="0" lang="en-US" smtClean="0" sz="4000"/>
          </a:p>
          <a:p>
            <a:pPr indent="-742950" marL="742950">
              <a:buNone/>
            </a:pPr>
            <a:endParaRPr dirty="0" lang="en-US" smtClean="0" sz="3600"/>
          </a:p>
          <a:p>
            <a:pPr indent="-742950" marL="742950">
              <a:buNone/>
            </a:pPr>
            <a:endParaRPr dirty="0" lang="en-US" smtClean="0" sz="3600"/>
          </a:p>
          <a:p>
            <a:pPr indent="-742950" marL="742950"/>
            <a:endParaRPr dirty="0" lang="en-US" smtClean="0" sz="3600"/>
          </a:p>
          <a:p>
            <a:pPr indent="-742950" marL="742950"/>
            <a:endParaRPr dirty="0" lang="en-US" sz="3600"/>
          </a:p>
        </p:txBody>
      </p:sp>
      <p:pic>
        <p:nvPicPr>
          <p:cNvPr descr="C:\Users\Steven\Documents\str\ExploringScienceNight\thumbnails\Prism.png" id="1026" name="Picture 2"/>
          <p:cNvPicPr>
            <a:picLocks noChangeArrowheads="1" noChangeAspect="1"/>
          </p:cNvPicPr>
          <p:nvPr/>
        </p:nvPicPr>
        <p:blipFill>
          <a:blip cstate="print" r:embed="rId2"/>
          <a:srcRect/>
          <a:stretch>
            <a:fillRect/>
          </a:stretch>
        </p:blipFill>
        <p:spPr>
          <a:xfrm>
            <a:off x="8451088" y="202052"/>
            <a:ext cx="3509264" cy="34039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60233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Words>2394</Words>
  <Paragraphs>324</Paragraphs>
  <Slides>61</Slides>
  <Notes>0</Notes>
  <TotalTime>1069</TotalTime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baseType="lpstr" size="62">
      <vt:lpstr>Office Theme</vt:lpstr>
      <vt:lpstr>Exploring Science Night</vt:lpstr>
      <vt:lpstr>Question  &amp; Answer Slides</vt:lpstr>
      <vt:lpstr>Which Flies Further?</vt:lpstr>
      <vt:lpstr>Why Does the Laser Follow the Water?</vt:lpstr>
      <vt:lpstr>Does the Water Temperature Matter?</vt:lpstr>
      <vt:lpstr>Does the Type of Liquid Matter?</vt:lpstr>
      <vt:lpstr>Which Flies Further?</vt:lpstr>
      <vt:lpstr>Which Is Easier to Aim?</vt:lpstr>
      <vt:lpstr>How Do You Increase Distance for a Catapult?</vt:lpstr>
      <vt:lpstr>How Do You Increase Distance for a Trebuchet?</vt:lpstr>
      <vt:lpstr>Trebuchet Release Pegs:</vt:lpstr>
      <vt:lpstr>Will a CAN of Soda Create a Geyser (instead of a Bottle)?</vt:lpstr>
      <vt:lpstr>Does Regular Soda or Diet Soda Go Higher?</vt:lpstr>
      <vt:lpstr>Is Sugar Required?</vt:lpstr>
      <vt:lpstr>Why Do Mentos Create a Geyser (compared to other candies)?</vt:lpstr>
      <vt:lpstr>Does the Soda Temperature Matter?</vt:lpstr>
      <vt:lpstr>Does the Type of Diet Soda Matter?</vt:lpstr>
      <vt:lpstr>Viking Ship: Goal</vt:lpstr>
      <vt:lpstr>Viking Ship: Science</vt:lpstr>
      <vt:lpstr>Materials Needed</vt:lpstr>
      <vt:lpstr>Paper Airplanes</vt:lpstr>
      <vt:lpstr>Laser Waterfall</vt:lpstr>
      <vt:lpstr>Mentos Geysers</vt:lpstr>
      <vt:lpstr>Viking Ship</vt:lpstr>
      <vt:lpstr>Volunteer Instruction Slides</vt:lpstr>
      <vt:lpstr>Laser Waterfall Instructions</vt:lpstr>
      <vt:lpstr>Laser Waterfall Instructions</vt:lpstr>
      <vt:lpstr>Mentos Geyser Instructions (without screw-on tube)</vt:lpstr>
      <vt:lpstr>Mentos Geyser Instructions (with screw-on tube)</vt:lpstr>
      <vt:lpstr>Catapult Instructions</vt:lpstr>
      <vt:lpstr>Trebuchet Instructions</vt:lpstr>
      <vt:lpstr>Viking Ship Instructions</vt:lpstr>
      <vt:lpstr>Viking Ship: 3 Cups</vt:lpstr>
      <vt:lpstr>Ultrasonic Atomizer</vt:lpstr>
      <vt:lpstr>3-D Mirascope</vt:lpstr>
      <vt:lpstr>3-D Mirascope</vt:lpstr>
      <vt:lpstr>MagLev Train - Setup</vt:lpstr>
      <vt:lpstr>MagLev Train - Details</vt:lpstr>
      <vt:lpstr>MagLev Train - Facts</vt:lpstr>
      <vt:lpstr>Energy Stick</vt:lpstr>
      <vt:lpstr>The Levitator</vt:lpstr>
      <vt:lpstr>Hand Boiler - Info</vt:lpstr>
      <vt:lpstr>Hand Boiler - Explanation</vt:lpstr>
      <vt:lpstr>Magnetic Hourglass</vt:lpstr>
      <vt:lpstr>Zero Gravity Fridge Rover</vt:lpstr>
      <vt:lpstr>Zero Gravity Fridge Rover</vt:lpstr>
      <vt:lpstr>Plasma Ball</vt:lpstr>
      <vt:lpstr>Plasma Ball</vt:lpstr>
      <vt:lpstr>Plasma Ball - Usage</vt:lpstr>
      <vt:lpstr>Boomerang Wheel</vt:lpstr>
      <vt:lpstr>Boomerang Wheel – How it Works</vt:lpstr>
      <vt:lpstr>Volcano – Baking Soda &amp; Vinegar</vt:lpstr>
      <vt:lpstr>Hard Warmer: Calcium Chloride</vt:lpstr>
      <vt:lpstr>Hard Warmer: Calcium Chloride</vt:lpstr>
      <vt:lpstr>Bromothymol Blue (BTB)</vt:lpstr>
      <vt:lpstr>Bromothymol Blue (BTB)</vt:lpstr>
      <vt:lpstr>Hovercraft - Build</vt:lpstr>
      <vt:lpstr>Hovercraft - Operate</vt:lpstr>
      <vt:lpstr>Prism – Refraction</vt:lpstr>
      <vt:lpstr>Prism – Wavelength</vt:lpstr>
      <vt:lpstr>Prism – Operate</vt:lpstr>
    </vt:vector>
  </TitlesOfParts>
  <LinksUpToDate>false</LinksUpToDate>
  <SharedDoc>false</SharedDoc>
  <HyperlinksChanged>false</HyperlinksChanged>
  <Application>Microsoft Office PowerPoint</Application>
  <AppVersion>12.0000</AppVersion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2017-02-26T20:28:15Z</dcterms:created>
  <dc:creator>Steven Rubenstein</dc:creator>
  <cp:lastModifiedBy>Steven</cp:lastModifiedBy>
  <dcterms:modified xsi:type="dcterms:W3CDTF">2017-12-07T01:12:35Z</dcterms:modified>
  <cp:revision>362</cp:revision>
  <dc:title>Which Flies Farther:</dc:title>
</cp:coreProperties>
</file>